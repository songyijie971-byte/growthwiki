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81a5e52f1b4b3f" /><Relationship Type="http://schemas.openxmlformats.org/officeDocument/2006/relationships/extended-properties" Target="/docProps/app.xml" Id="Ref5556e7333c4496" /><Relationship Type="http://schemas.openxmlformats.org/officeDocument/2006/relationships/officeDocument" Target="/ppt/presentation.xml" Id="Rb42e072e938f40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982a8e405345a3"/>
  </p:sldMasterIdLst>
  <p:notesMasterIdLst>
    <p:notesMasterId xmlns:r="http://schemas.openxmlformats.org/officeDocument/2006/relationships" r:id="R2373c7e9488c455c"/>
  </p:notesMasterIdLst>
  <p:sldIdLst>
    <p:sldId xmlns:r="http://schemas.openxmlformats.org/officeDocument/2006/relationships" id="256" r:id="R1aef4f2a11664a20"/>
    <p:sldId xmlns:r="http://schemas.openxmlformats.org/officeDocument/2006/relationships" id="257" r:id="R43a48eac45784d04"/>
    <p:sldId xmlns:r="http://schemas.openxmlformats.org/officeDocument/2006/relationships" id="258" r:id="R2cfdddea23144dd4"/>
    <p:sldId xmlns:r="http://schemas.openxmlformats.org/officeDocument/2006/relationships" id="259" r:id="Rd8cb6c2dd2af401f"/>
    <p:sldId xmlns:r="http://schemas.openxmlformats.org/officeDocument/2006/relationships" id="260" r:id="R57befdaa730e4ee2"/>
    <p:sldId xmlns:r="http://schemas.openxmlformats.org/officeDocument/2006/relationships" id="261" r:id="Rc31eab67895e4f7f"/>
    <p:sldId xmlns:r="http://schemas.openxmlformats.org/officeDocument/2006/relationships" id="262" r:id="Rdd99201a70ae4639"/>
    <p:sldId xmlns:r="http://schemas.openxmlformats.org/officeDocument/2006/relationships" id="263" r:id="Rb35c6a87c6664b72"/>
    <p:sldId xmlns:r="http://schemas.openxmlformats.org/officeDocument/2006/relationships" id="264" r:id="Rc0d7d5b85768448e"/>
    <p:sldId xmlns:r="http://schemas.openxmlformats.org/officeDocument/2006/relationships" id="265" r:id="Rbd46eebcaa9f4d5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77c065ccdf4995" /><Relationship Type="http://schemas.openxmlformats.org/officeDocument/2006/relationships/slideMaster" Target="/ppt/slideMasters/slideMaster1.xml" Id="Reb982a8e405345a3" /><Relationship Type="http://schemas.openxmlformats.org/officeDocument/2006/relationships/notesMaster" Target="/ppt/notesMasters/notesMaster1.xml" Id="R2373c7e9488c455c" /><Relationship Type="http://schemas.openxmlformats.org/officeDocument/2006/relationships/presProps" Target="/ppt/presProps.xml" Id="R5ffcf548c7424e83" /><Relationship Type="http://schemas.openxmlformats.org/officeDocument/2006/relationships/viewProps" Target="/ppt/viewProps.xml" Id="Rbd713a2a67fd42ca" /><Relationship Type="http://schemas.openxmlformats.org/officeDocument/2006/relationships/tableStyles" Target="/ppt/tableStyles.xml" Id="R2ad61b0cda4947c1" /><Relationship Type="http://schemas.openxmlformats.org/officeDocument/2006/relationships/slide" Target="/ppt/slides/slide1.xml" Id="R1aef4f2a11664a20" /><Relationship Type="http://schemas.openxmlformats.org/officeDocument/2006/relationships/slide" Target="/ppt/slides/slide2.xml" Id="R43a48eac45784d04" /><Relationship Type="http://schemas.openxmlformats.org/officeDocument/2006/relationships/slide" Target="/ppt/slides/slide3.xml" Id="R2cfdddea23144dd4" /><Relationship Type="http://schemas.openxmlformats.org/officeDocument/2006/relationships/slide" Target="/ppt/slides/slide4.xml" Id="Rd8cb6c2dd2af401f" /><Relationship Type="http://schemas.openxmlformats.org/officeDocument/2006/relationships/slide" Target="/ppt/slides/slide5.xml" Id="R57befdaa730e4ee2" /><Relationship Type="http://schemas.openxmlformats.org/officeDocument/2006/relationships/slide" Target="/ppt/slides/slide6.xml" Id="Rc31eab67895e4f7f" /><Relationship Type="http://schemas.openxmlformats.org/officeDocument/2006/relationships/slide" Target="/ppt/slides/slide7.xml" Id="Rdd99201a70ae4639" /><Relationship Type="http://schemas.openxmlformats.org/officeDocument/2006/relationships/slide" Target="/ppt/slides/slide8.xml" Id="Rb35c6a87c6664b72" /><Relationship Type="http://schemas.openxmlformats.org/officeDocument/2006/relationships/slide" Target="/ppt/slides/slide9.xml" Id="Rc0d7d5b85768448e" /><Relationship Type="http://schemas.openxmlformats.org/officeDocument/2006/relationships/slide" Target="/ppt/slides/slide10.xml" Id="Rbd46eebcaa9f4d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cd48f39c244f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7ff984711f499c" /><Relationship Type="http://schemas.openxmlformats.org/officeDocument/2006/relationships/notesMaster" Target="/ppt/notesMasters/notesMaster1.xml" Id="R9b26b037543141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d22a4de92c4f9f" /><Relationship Type="http://schemas.openxmlformats.org/officeDocument/2006/relationships/notesMaster" Target="/ppt/notesMasters/notesMaster1.xml" Id="R7735b6ac7b6449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da29918c2e14701" /><Relationship Type="http://schemas.openxmlformats.org/officeDocument/2006/relationships/notesMaster" Target="/ppt/notesMasters/notesMaster1.xml" Id="Re88cd8a5dc9141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3b5c2bfbb24057" /><Relationship Type="http://schemas.openxmlformats.org/officeDocument/2006/relationships/notesMaster" Target="/ppt/notesMasters/notesMaster1.xml" Id="Rfc2147d99a264f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fe43cc41504583" /><Relationship Type="http://schemas.openxmlformats.org/officeDocument/2006/relationships/notesMaster" Target="/ppt/notesMasters/notesMaster1.xml" Id="R63f227dcf89c45b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ba490225b004166" /><Relationship Type="http://schemas.openxmlformats.org/officeDocument/2006/relationships/notesMaster" Target="/ppt/notesMasters/notesMaster1.xml" Id="R76be8bff41e044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a6ccdd5e69d447f" /><Relationship Type="http://schemas.openxmlformats.org/officeDocument/2006/relationships/notesMaster" Target="/ppt/notesMasters/notesMaster1.xml" Id="R140b9f01b124436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9793796c288419f" /><Relationship Type="http://schemas.openxmlformats.org/officeDocument/2006/relationships/notesMaster" Target="/ppt/notesMasters/notesMaster1.xml" Id="R611d7bb71086458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0cef9b0052740f1" /><Relationship Type="http://schemas.openxmlformats.org/officeDocument/2006/relationships/notesMaster" Target="/ppt/notesMasters/notesMaster1.xml" Id="Re7559bb6b2a045d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a4a447469804200" /><Relationship Type="http://schemas.openxmlformats.org/officeDocument/2006/relationships/notesMaster" Target="/ppt/notesMasters/notesMaster1.xml" Id="Rf58c02d3b4764a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开场先说明本周汇报范围：我完成的是 Autoware 视觉—LiDAR 融合架构和接口的文档梳理，重点是理解不同 LiDAR 输出怎样进入投影融合。当前没有把官方示意图或文档结论当成本地实验结果。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note: 50_智能驾驶/01_基础概念/04_相机—LiDAR 投影融合.md</a:t>
            </a:r>
          </a:p>
          <a:p xmlns:a="http://schemas.openxmlformats.org/drawingml/2006/main">
            <a:r>
              <a:t>- https://autowarefoundation.github.io/autoware-documentation/main/design/autoware-architecture-v1/components/perception/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这一页只讲直觉。相机擅长识别类别和纹理，LiDAR 擅长测量三维位置和形状。融合不是简单把两份数据叠起来，而是要判断相机中的二维目标与 LiDAR 中的三维目标是不是同一个物体。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note: 50_智能驾驶/01_基础概念/04_相机—LiDAR 投影融合.md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左侧只保留听众真正需要识别的输出层级和关键字段。右侧编号表示一般架构位置：CenterPoint 和当前 LiDAR TransFusion 对应 LiDAR pipeline 中的 DNN based 3D detector；Apollo Instance Segmentation 对应 LiDAR clustering；FRNet 属于逐点语义分割，应放在形成实例点簇或目标之前，官方参考图没有单独画出它；roi_cluster_fusion 和 roi_detected_object_fusion 都属于 Camera-LiDAR pipeline 中的 Projection based fusion node。彩色编号是基于接口含义做的位置标注，不代表组内 launch 已经这样连接。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https://autowarefoundation.github.io/autoware-documentation/main/design/autoware-architecture-v1/components/perception/</a:t>
            </a:r>
          </a:p>
          <a:p xmlns:a="http://schemas.openxmlformats.org/drawingml/2006/main">
            <a:r>
              <a:t>- https://autowarefoundation.github.io/autoware_universe/main/perception/autoware_image_projection_based_fusion/docs/roi-cluster-fusion/</a:t>
            </a:r>
          </a:p>
          <a:p xmlns:a="http://schemas.openxmlformats.org/drawingml/2006/main">
            <a:r>
              <a:t>- https://autowarefoundation.github.io/autoware_universe/main/perception/autoware_image_projection_based_fusion/docs/roi-detected-object-fusion/</a:t>
            </a:r>
          </a:p>
          <a:p xmlns:a="http://schemas.openxmlformats.org/drawingml/2006/main">
            <a:r>
              <a:t>- Local note: 50_智能驾驶/01_基础概念/03_LiDAR 输出与相机融合接口.md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CenterPoint 直接把整帧点云变成完整三维目标。假设输出中，第一辆车位于前方十二点二米、横向一点八米，三维尺寸约四点五乘一点八乘一点六米；第二个目标是一名行人。这样就能直观看出 DetectedObjects 已经包含类别、置信度、位置、朝向和形状，而不是一组原始点。所有数字仍是讲解示例。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https://autowarefoundation.github.io/autoware_universe/main/perception/autoware_lidar_centerpoint/</a:t>
            </a:r>
          </a:p>
          <a:p xmlns:a="http://schemas.openxmlformats.org/drawingml/2006/main">
            <a:r>
              <a:t>- https://github.com/tianweiy/CenterPoint</a:t>
            </a:r>
          </a:p>
          <a:p xmlns:a="http://schemas.openxmlformats.org/drawingml/2006/main">
            <a:r>
              <a:t>- Local note: 50_智能驾驶/01_基础概念/02_Autoware LiDAR 感知节点.md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仍然使用同一个假设场景。Apollo 不再只说每个点是什么，而是把 P1、P2 和附近的车辆点组织成 Object 1，把 P3 和附近的行人点组织成 Object 2。输出是 DetectedObjectsWithFeature，每个对象中仍保留 feature.cluster，所以后续可以把真实点簇投影到图像。这里的点编号和分类只是示例。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https://autowarefoundation.github.io/autoware_universe/main/perception/autoware_lidar_apollo_instance_segmentation/</a:t>
            </a:r>
          </a:p>
          <a:p xmlns:a="http://schemas.openxmlformats.org/drawingml/2006/main">
            <a:r>
              <a:t>- Local note: 50_智能驾驶/01_基础概念/02_Autoware LiDAR 感知节点.md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左侧只保留听众真正需要识别的输出层级和关键字段。右侧编号表示一般架构位置：CenterPoint 和当前 LiDAR TransFusion 对应 LiDAR pipeline 中的 DNN based 3D detector；Apollo Instance Segmentation 对应 LiDAR clustering；FRNet 属于逐点语义分割，应放在形成实例点簇或目标之前，官方参考图没有单独画出它；roi_cluster_fusion 和 roi_detected_object_fusion 都属于 Camera-LiDAR pipeline 中的 Projection based fusion node。彩色编号是基于接口含义做的位置标注，不代表组内 launch 已经这样连接。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https://autowarefoundation.github.io/autoware-documentation/main/design/autoware-architecture-v1/components/perception/</a:t>
            </a:r>
          </a:p>
          <a:p xmlns:a="http://schemas.openxmlformats.org/drawingml/2006/main">
            <a:r>
              <a:t>- https://autowarefoundation.github.io/autoware_universe/main/perception/autoware_image_projection_based_fusion/docs/roi-cluster-fusion/</a:t>
            </a:r>
          </a:p>
          <a:p xmlns:a="http://schemas.openxmlformats.org/drawingml/2006/main">
            <a:r>
              <a:t>- https://autowarefoundation.github.io/autoware_universe/main/perception/autoware_image_projection_based_fusion/docs/roi-detected-object-fusion/</a:t>
            </a:r>
          </a:p>
          <a:p xmlns:a="http://schemas.openxmlformats.org/drawingml/2006/main">
            <a:r>
              <a:t>- Local note: 50_智能驾驶/01_基础概念/03_LiDAR 输出与相机融合接口.md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这页继续用同一个具体示例说明消息层级。当前 Autoware LiDAR TransFusion 节点接收 LiDAR PointCloud2，也输出包含类别、位置、朝向和三维形状的 DetectedObjects，所以右侧示例和 CenterPoint 使用相同的对象结构。重点不是比较两种算法的示例数值，而是说明它们接口同层级；论文图中的 Camera 分支不能证明当前节点已经订阅相机。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https://autowarefoundation.github.io/autoware_universe/main/perception/autoware_lidar_transfusion/</a:t>
            </a:r>
          </a:p>
          <a:p xmlns:a="http://schemas.openxmlformats.org/drawingml/2006/main">
            <a:r>
              <a:t>- Local note: 50_智能驾驶/01_基础概念/02_Autoware LiDAR 感知节点.md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左侧只保留听众真正需要识别的输出层级和关键字段。右侧编号表示一般架构位置：CenterPoint 和当前 LiDAR TransFusion 对应 LiDAR pipeline 中的 DNN based 3D detector；Apollo Instance Segmentation 对应 LiDAR clustering；FRNet 属于逐点语义分割，应放在形成实例点簇或目标之前，官方参考图没有单独画出它；roi_cluster_fusion 和 roi_detected_object_fusion 都属于 Camera-LiDAR pipeline 中的 Projection based fusion node。彩色编号是基于接口含义做的位置标注，不代表组内 launch 已经这样连接。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https://autowarefoundation.github.io/autoware-documentation/main/design/autoware-architecture-v1/components/perception/</a:t>
            </a:r>
          </a:p>
          <a:p xmlns:a="http://schemas.openxmlformats.org/drawingml/2006/main">
            <a:r>
              <a:t>- https://autowarefoundation.github.io/autoware_universe/main/perception/autoware_image_projection_based_fusion/docs/roi-cluster-fusion/</a:t>
            </a:r>
          </a:p>
          <a:p xmlns:a="http://schemas.openxmlformats.org/drawingml/2006/main">
            <a:r>
              <a:t>- https://autowarefoundation.github.io/autoware_universe/main/perception/autoware_image_projection_based_fusion/docs/roi-detected-object-fusion/</a:t>
            </a:r>
          </a:p>
          <a:p xmlns:a="http://schemas.openxmlformats.org/drawingml/2006/main">
            <a:r>
              <a:t>- Local note: 50_智能驾驶/01_基础概念/03_LiDAR 输出与相机融合接口.md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这一页只讲直觉。相机擅长识别类别和纹理，LiDAR 擅长测量三维位置和形状。融合不是简单把两份数据叠起来，而是要判断相机中的二维目标与 LiDAR 中的三维目标是不是同一个物体。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note: 50_智能驾驶/01_基础概念/04_相机—LiDAR 投影融合.md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本周完成的成果是把架构位置、四个 LiDAR 包、融合分支和两个模块的边界讲清楚。下一步不再扩展更多算法，而是向老师或组员确认实际 launch、Topic 和消息类型，并在拿到 rosbag 后检查 TF、时间戳和真实输出。结论是：先识别接口层级，再决定融合方式。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note: 50_智能驾驶/01_基础概念/02_Autoware LiDAR 感知节点.md</a:t>
            </a:r>
          </a:p>
          <a:p xmlns:a="http://schemas.openxmlformats.org/drawingml/2006/main">
            <a:r>
              <a:t>- Local note: 50_智能驾驶/01_基础概念/03_LiDAR 输出与相机融合接口.md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9e17f042e44e5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f11451b592460f" /><Relationship Type="http://schemas.openxmlformats.org/officeDocument/2006/relationships/slideLayout" Target="/ppt/slideLayouts/slideLayout1.xml" Id="R7d7fc26eed61460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7fc26eed6146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030f51fa6f48f7" /><Relationship Type="http://schemas.openxmlformats.org/officeDocument/2006/relationships/notesSlide" Target="/ppt/notesSlides/notesSlide1.xml" Id="R69243f7bb6534c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88927bfe0649d6" /><Relationship Type="http://schemas.openxmlformats.org/officeDocument/2006/relationships/notesSlide" Target="/ppt/notesSlides/notesSlide2.xml" Id="Rcccbe91c2dd5429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1046fbe89b48b6" /><Relationship Type="http://schemas.openxmlformats.org/officeDocument/2006/relationships/image" Target="/ppt/media/image.png" Id="Ra90c5ff90d0042ef" /><Relationship Type="http://schemas.openxmlformats.org/officeDocument/2006/relationships/notesSlide" Target="/ppt/notesSlides/notesSlide3.xml" Id="R7b0a3814557048a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d3281bf8fe4446" /><Relationship Type="http://schemas.openxmlformats.org/officeDocument/2006/relationships/image" Target="/ppt/media/image2.png" Id="R2efddfe6e6ab42a9" /><Relationship Type="http://schemas.openxmlformats.org/officeDocument/2006/relationships/notesSlide" Target="/ppt/notesSlides/notesSlide4.xml" Id="R08bbe67616614fa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29ed8a9ba8466c" /><Relationship Type="http://schemas.openxmlformats.org/officeDocument/2006/relationships/image" Target="/ppt/media/image3.png" Id="R64864ca189af46a3" /><Relationship Type="http://schemas.openxmlformats.org/officeDocument/2006/relationships/notesSlide" Target="/ppt/notesSlides/notesSlide5.xml" Id="Ra311dfd94d7a4b4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c50968108e4f3a" /><Relationship Type="http://schemas.openxmlformats.org/officeDocument/2006/relationships/image" Target="/ppt/media/image.png" Id="R0a9789caa7be437d" /><Relationship Type="http://schemas.openxmlformats.org/officeDocument/2006/relationships/notesSlide" Target="/ppt/notesSlides/notesSlide6.xml" Id="Rde8145287af24b4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df1ac9b26c4728" /><Relationship Type="http://schemas.openxmlformats.org/officeDocument/2006/relationships/image" Target="/ppt/media/image4.png" Id="Rc425192954634d25" /><Relationship Type="http://schemas.openxmlformats.org/officeDocument/2006/relationships/notesSlide" Target="/ppt/notesSlides/notesSlide7.xml" Id="Rce44c2b02f8341e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3db975baf2468c" /><Relationship Type="http://schemas.openxmlformats.org/officeDocument/2006/relationships/image" Target="/ppt/media/image.png" Id="Rb25722ef924544dc" /><Relationship Type="http://schemas.openxmlformats.org/officeDocument/2006/relationships/notesSlide" Target="/ppt/notesSlides/notesSlide8.xml" Id="Rf11dcf3beb7a4d6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6bbed6c5844dec" /><Relationship Type="http://schemas.openxmlformats.org/officeDocument/2006/relationships/notesSlide" Target="/ppt/notesSlides/notesSlide9.xml" Id="Rbff745f255a1495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675ff54bb54283" /><Relationship Type="http://schemas.openxmlformats.org/officeDocument/2006/relationships/notesSlide" Target="/ppt/notesSlides/notesSlide10.xml" Id="Rdeecad25df07496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4099ECA-11DE-4770-A6E5-C94440F7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284C7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284C7"/>
                </a:solidFill>
                <a:latin typeface="微软雅黑"/>
                <a:ea typeface="微软雅黑"/>
                <a:cs typeface="微软雅黑"/>
              </a:rPr>
              <a:t>组会学习汇报 · 2026.08.05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432B3A0-111E-4DC4-9E94-85316E0B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71550"/>
            <a:ext cx="1428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0">
            <a:solidFill>
              <a:srgbClr val="0284C7"/>
            </a:solidFill>
            <a:prstDash val="solid"/>
          </a:ln>
        </p:spPr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BB3B66F-EFD3-47CF-A474-BD6EDB33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7239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lnSpcReduction="1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54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54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Autoware LiDAR </a:t>
            </a:r>
            <a:r>
              <a:rPr sz="54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感知节点与输出层级</a:t>
            </a:r>
          </a:p>
        </p:txBody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A411E2C9-C01A-48DF-8F99-49784D4F2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390650"/>
            <a:ext cx="3143250" cy="33718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79768D1-8F0D-47C3-90BC-E97FC2BA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8097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284C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284C7"/>
                </a:solidFill>
                <a:latin typeface="微软雅黑"/>
                <a:ea typeface="微软雅黑"/>
                <a:cs typeface="微软雅黑"/>
              </a:rPr>
              <a:t>CAMERA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FDB0CD3-B4A5-4BCE-97A0-C6E24651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71700"/>
            <a:ext cx="1428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2D ROI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类别与语义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F247FE7-02F9-434D-B29E-3303B5BB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533650"/>
            <a:ext cx="38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85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7C3AED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7C3AED"/>
                </a:solidFill>
                <a:latin typeface="微软雅黑"/>
                <a:ea typeface="微软雅黑"/>
                <a:cs typeface="微软雅黑"/>
              </a:rPr>
              <a:t>+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B49A949-FE1B-4223-A175-69CF025E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8097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6A34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6A34A"/>
                </a:solidFill>
                <a:latin typeface="微软雅黑"/>
                <a:ea typeface="微软雅黑"/>
                <a:cs typeface="微软雅黑"/>
              </a:rPr>
              <a:t>LiDAR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87C197C-3126-4C23-BDDA-C2B206AE3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171700"/>
            <a:ext cx="1047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887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21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3D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21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位置与形状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458E656C-B33D-454D-8A2E-6B7E051C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19450"/>
            <a:ext cx="228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D8E6F695-5D58-4B4F-B80F-911C99A96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4290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7C3AE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C3AED"/>
                </a:solidFill>
                <a:latin typeface="微软雅黑"/>
                <a:ea typeface="微软雅黑"/>
                <a:cs typeface="微软雅黑"/>
              </a:rPr>
              <a:t>FUSION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43832669-AF3C-4143-A891-875ABDD34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8481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确认同一目标</a:t>
            </a: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B069DFBF-6CB9-45A3-820D-44B5688E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68770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8678C2A-AAC2-42D4-B483-75DD7229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72125"/>
            <a:ext cx="647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4748B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基于官方架构与接口文档梳理</a:t>
            </a:r>
          </a:p>
        </p:txBody>
      </p:sp>
    </p:spTree>
    <p:extLst>
      <p:ext uri="{BB962C8B-B14F-4D97-AF65-F5344CB8AC3E}">
        <p14:creationId xmlns:p14="http://schemas.microsoft.com/office/powerpoint/2010/main" val="2634504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2-eyebrow">
            <a:extLst xmlns:a="http://schemas.openxmlformats.org/drawingml/2006/main">
              <a:ext uri="{FF2B5EF4-FFF2-40B4-BE49-F238E27FC236}">
                <a16:creationId xmlns:a16="http://schemas.microsoft.com/office/drawing/2014/main" id="{66A1558E-F43C-4437-9337-54CC2D64C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284C7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0284C7"/>
                </a:solidFill>
                <a:latin typeface="微软雅黑"/>
                <a:ea typeface="微软雅黑"/>
                <a:cs typeface="微软雅黑"/>
              </a:rPr>
              <a:t>WHY FUSION</a:t>
            </a:r>
          </a:p>
        </p:txBody>
      </p:sp>
      <p:sp>
        <p:nvSpPr>
          <p:cNvPr id="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14AF235D-A1C2-4EEC-89E1-774D3806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相机给语义，LiDAR 给三维几何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5D539834-7031-4E76-80FF-59BAE0A7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solidFill>
              <a:srgbClr val="DCE5EF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2B8D22B-84B4-4420-BA45-2914D2F8C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组会学习汇报 · 2026.08.05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4D675D0-CBCF-4203-97FD-4CC19F4D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79D6374-BAC1-4964-9F8A-1D4B07D9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64748B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两类传感器观察同一世界，但回答的问题不同。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C8FEEB3-EA59-4AFC-A339-66EF3D7F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38350"/>
            <a:ext cx="2914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0">
            <a:solidFill>
              <a:srgbClr val="0284C7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F993F30-BA55-47BB-A3B9-F202CB8CE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669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284C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284C7"/>
                </a:solidFill>
                <a:latin typeface="微软雅黑"/>
                <a:ea typeface="微软雅黑"/>
                <a:cs typeface="微软雅黑"/>
              </a:rPr>
              <a:t>CAMERA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E4E97796-E1D9-4B67-BD47-0CB18267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860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相机：是什么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E353BAD6-E39D-4776-9E68-FE349E55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3048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车辆、行人等类别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颜色、标志与纹理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单目深度和尺度不稳定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65913E3-1BFB-4D41-BC96-2046ADF7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21945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4050" b="1">
                <a:solidFill>
                  <a:srgbClr val="7C3AED"/>
                </a:solidFill>
                <a:latin typeface="微软雅黑"/>
                <a:ea typeface="微软雅黑"/>
                <a:cs typeface="微软雅黑"/>
              </a:defRPr>
            </a:pPr>
            <a:r>
              <a:rPr sz="4050" b="1">
                <a:solidFill>
                  <a:srgbClr val="7C3AED"/>
                </a:solidFill>
                <a:latin typeface="微软雅黑"/>
                <a:ea typeface="微软雅黑"/>
                <a:cs typeface="微软雅黑"/>
              </a:rPr>
              <a:t>+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DD6EFFDA-3AC5-42C4-A9F6-89F9D833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038350"/>
            <a:ext cx="2914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B71D1B1D-C006-4A39-ADAE-DBE9E4E25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2669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6A34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6A34A"/>
                </a:solidFill>
                <a:latin typeface="微软雅黑"/>
                <a:ea typeface="微软雅黑"/>
                <a:cs typeface="微软雅黑"/>
              </a:rPr>
              <a:t>LiDAR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1EA76F2-8DDC-4C56-A3FC-B292DA00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68605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LiDAR：在哪里、多大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F1D02556-A68F-4F9E-94CA-3D691343C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52800"/>
            <a:ext cx="323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距离、位置与轮廓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直接形成三维点云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原始点的类别信息较弱</a:t>
            </a:r>
          </a:p>
        </p:txBody>
      </p:sp>
      <p:sp>
        <p:nvSpPr>
          <p:cNvPr id="16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D31FC6EF-BBB3-44DD-9BFF-ED01347E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38350"/>
            <a:ext cx="2247900" cy="266700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94316DD7-FBC2-4AAE-87EB-85ECEA2E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3431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7C3AE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C3AED"/>
                </a:solidFill>
                <a:latin typeface="微软雅黑"/>
                <a:ea typeface="微软雅黑"/>
                <a:cs typeface="微软雅黑"/>
              </a:rPr>
              <a:t>FUSION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F0131F9A-16B9-42C4-806E-971CB65D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57500"/>
            <a:ext cx="1790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39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25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是不是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25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同一个目标？</a:t>
            </a:r>
          </a:p>
        </p:txBody>
      </p:sp>
      <p:sp>
        <p:nvSpPr>
          <p:cNvPr id="19" name="圆角矩形 18">
            <a:extLst xmlns:a="http://schemas.openxmlformats.org/drawingml/2006/main">
              <a:ext uri="{FF2B5EF4-FFF2-40B4-BE49-F238E27FC236}">
                <a16:creationId xmlns:a16="http://schemas.microsoft.com/office/drawing/2014/main" id="{AFB6952F-36BE-4B68-AB12-B04B40726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00650"/>
            <a:ext cx="103251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D75A7F87-DBC4-4804-90EC-83C32C09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62575"/>
            <a:ext cx="975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73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相机补类别，LiDAR 补三维，融合节点确认两边描述的是同一目标。</a:t>
            </a:r>
          </a:p>
        </p:txBody>
      </p:sp>
    </p:spTree>
    <p:extLst>
      <p:ext uri="{BB962C8B-B14F-4D97-AF65-F5344CB8AC3E}">
        <p14:creationId xmlns:p14="http://schemas.microsoft.com/office/powerpoint/2010/main" val="11923073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lide-7-eyebrow">
            <a:extLst xmlns:a="http://schemas.openxmlformats.org/drawingml/2006/main">
              <a:ext uri="{FF2B5EF4-FFF2-40B4-BE49-F238E27FC236}">
                <a16:creationId xmlns:a16="http://schemas.microsoft.com/office/drawing/2014/main" id="{630382ED-F562-444A-971E-ABD7D896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284C7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0284C7"/>
                </a:solidFill>
                <a:latin typeface="微软雅黑"/>
                <a:ea typeface="微软雅黑"/>
                <a:cs typeface="微软雅黑"/>
              </a:rPr>
              <a:t>INTERFACE ROUTING</a:t>
            </a:r>
          </a:p>
        </p:txBody>
      </p:sp>
      <p:sp>
        <p:nvSpPr>
          <p:cNvPr id="2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A0362F33-FB79-401A-8F37-31639650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输出层级决定模块在架构中的位置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B8856F0-ACCF-4322-9748-FDD85564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solidFill>
              <a:srgbClr val="DCE5EF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03DA1E0C-29F6-45DF-B620-D7D31F20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组会学习汇报 · 2026.08.05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EEC6074-7E56-47D8-8839-83F8C1A2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0EFF5C6-4BB9-4CCD-A443-7BB62588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DE26274-BF8A-46CB-B348-96576E38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350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Apollo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FF05823-414B-4651-AE80-DC8AB9A7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57375"/>
            <a:ext cx="3505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7C3AE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7C3AED"/>
                </a:solidFill>
                <a:latin typeface="微软雅黑"/>
                <a:ea typeface="微软雅黑"/>
                <a:cs typeface="微软雅黑"/>
              </a:rPr>
              <a:t>输出：实例点簇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132C22CB-490C-4DB6-B533-655564D85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24075"/>
            <a:ext cx="3505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字段：类别 · 置信度 · 点簇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3744443-0DD5-46C6-B51A-D517FB22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350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7C3AE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C3AED"/>
                </a:solidFill>
                <a:latin typeface="微软雅黑"/>
                <a:ea typeface="微软雅黑"/>
                <a:cs typeface="微软雅黑"/>
              </a:rPr>
              <a:t>→  roi_cluster_fusion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7192DD0-596F-4B7C-8D7C-B70CE2B2E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09875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0322D50-EBA5-47D5-B9E8-60C29892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9875"/>
            <a:ext cx="350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CenterPoint / TransFusion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95522E97-81D3-4B70-9571-BBDAC6DEA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3505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6A34A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6A34A"/>
                </a:solidFill>
                <a:latin typeface="微软雅黑"/>
                <a:ea typeface="微软雅黑"/>
                <a:cs typeface="微软雅黑"/>
              </a:rPr>
              <a:t>输出：完整 3D 目标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AF1EC75C-92CD-466E-8224-8F04D122F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09950"/>
            <a:ext cx="3505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字段：类别 · 置信度 · 位姿 · 尺寸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8CEE415-18C7-4ECB-A278-5773748F2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48075"/>
            <a:ext cx="350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6A34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6A34A"/>
                </a:solidFill>
                <a:latin typeface="微软雅黑"/>
                <a:ea typeface="微软雅黑"/>
                <a:cs typeface="微软雅黑"/>
              </a:rPr>
              <a:t>→  roi_detected_object_fusion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2B422C8F-56B9-4282-AA8A-D1256A92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0">
            <a:solidFill>
              <a:srgbClr val="0284C7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518710CB-830F-47EB-B704-9B7FB2C3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350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FRNet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07A45A37-6BCA-44DA-BEDD-0F67997D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29125"/>
            <a:ext cx="3505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284C7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0284C7"/>
                </a:solidFill>
                <a:latin typeface="微软雅黑"/>
                <a:ea typeface="微软雅黑"/>
                <a:cs typeface="微软雅黑"/>
              </a:rPr>
              <a:t>输出：语义点云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90926E8B-4A4F-45B3-9423-D33D9AEC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95825"/>
            <a:ext cx="3505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字段：x/y/z · class_id · probability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AA48EDD-052B-4328-99EA-5F7D4E00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33950"/>
            <a:ext cx="350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284C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284C7"/>
                </a:solidFill>
                <a:latin typeface="微软雅黑"/>
                <a:ea typeface="微软雅黑"/>
                <a:cs typeface="微软雅黑"/>
              </a:rPr>
              <a:t>→  先聚类形成目标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8E809EDB-D03A-4136-9346-118082A3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435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D97706"/>
                </a:solidFill>
                <a:latin typeface="微软雅黑"/>
                <a:ea typeface="微软雅黑"/>
                <a:cs typeface="微软雅黑"/>
              </a:defRPr>
            </a:pPr>
          </a:p>
        </p:txBody>
      </p:sp>
      <p:sp>
        <p:nvSpPr>
          <p:cNvPr id="23" name="圆角矩形 22">
            <a:extLst xmlns:a="http://schemas.openxmlformats.org/drawingml/2006/main">
              <a:ext uri="{FF2B5EF4-FFF2-40B4-BE49-F238E27FC236}">
                <a16:creationId xmlns:a16="http://schemas.microsoft.com/office/drawing/2014/main" id="{974839CA-4C29-4D7C-A155-278893EDC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485900"/>
            <a:ext cx="702945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pic>
        <p:nvPicPr>
          <p:cNvPr id="70" name="图片 6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0c5ff90d0042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14689" y="1581150"/>
            <a:ext cx="4258372" cy="3714750"/>
          </a:xfrm>
          <a:prstGeom xmlns:a="http://schemas.openxmlformats.org/drawingml/2006/main" prst="roundRect">
            <a:avLst>
              <a:gd name="adj" fmla="val 2051"/>
            </a:avLst>
          </a:prstGeom>
        </p:spPr>
      </p:pic>
      <p:sp>
        <p:nvSpPr>
          <p:cNvPr id="25" name="圆角矩形 24">
            <a:extLst xmlns:a="http://schemas.openxmlformats.org/drawingml/2006/main">
              <a:ext uri="{FF2B5EF4-FFF2-40B4-BE49-F238E27FC236}">
                <a16:creationId xmlns:a16="http://schemas.microsoft.com/office/drawing/2014/main" id="{D15758F4-A7EA-4995-950A-42020274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96240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459EC0DA-60E2-4D9F-8ECA-4E7C248A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0005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27" name="圆角矩形 26">
            <a:extLst xmlns:a="http://schemas.openxmlformats.org/drawingml/2006/main">
              <a:ext uri="{FF2B5EF4-FFF2-40B4-BE49-F238E27FC236}">
                <a16:creationId xmlns:a16="http://schemas.microsoft.com/office/drawing/2014/main" id="{2A98EFEE-E418-4CAD-A8CA-1BC521ACB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6240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797B4F9C-01BF-4E26-9448-F2A841E8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0005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29" name="圆角矩形 28">
            <a:extLst xmlns:a="http://schemas.openxmlformats.org/drawingml/2006/main">
              <a:ext uri="{FF2B5EF4-FFF2-40B4-BE49-F238E27FC236}">
                <a16:creationId xmlns:a16="http://schemas.microsoft.com/office/drawing/2014/main" id="{16FD8905-DB4E-4665-B83B-1F86E606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58140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8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7BCFB097-825E-411A-A4DC-C32729236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6195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31" name="圆角矩形 30">
            <a:extLst xmlns:a="http://schemas.openxmlformats.org/drawingml/2006/main">
              <a:ext uri="{FF2B5EF4-FFF2-40B4-BE49-F238E27FC236}">
                <a16:creationId xmlns:a16="http://schemas.microsoft.com/office/drawing/2014/main" id="{81FE0561-414A-42A5-8D41-263AA62DE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4767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D23C3F88-9F57-43EA-9416-195F0D32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5148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33" name="圆角矩形 32">
            <a:extLst xmlns:a="http://schemas.openxmlformats.org/drawingml/2006/main">
              <a:ext uri="{FF2B5EF4-FFF2-40B4-BE49-F238E27FC236}">
                <a16:creationId xmlns:a16="http://schemas.microsoft.com/office/drawing/2014/main" id="{EB2C873A-2A02-4B4E-8402-A72283A08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46735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F5087163-C1A6-4160-BBB7-480870290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495925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C565366F-B9AE-4101-976B-EC4D9DB3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4768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CenterPoint / TransFusion → 3D detector</a:t>
            </a:r>
          </a:p>
        </p:txBody>
      </p:sp>
      <p:sp>
        <p:nvSpPr>
          <p:cNvPr id="36" name="圆角矩形 35">
            <a:extLst xmlns:a="http://schemas.openxmlformats.org/drawingml/2006/main">
              <a:ext uri="{FF2B5EF4-FFF2-40B4-BE49-F238E27FC236}">
                <a16:creationId xmlns:a16="http://schemas.microsoft.com/office/drawing/2014/main" id="{626505AF-9CD2-4985-A31F-4C415A24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46735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ADBA31B7-C5B6-46DA-AE64-50B8C836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495925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D30FC8CE-CEDE-45C2-BAF3-E9206214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4768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Apollo → LiDAR clustering</a:t>
            </a:r>
          </a:p>
        </p:txBody>
      </p:sp>
      <p:sp>
        <p:nvSpPr>
          <p:cNvPr id="39" name="圆角矩形 38">
            <a:extLst xmlns:a="http://schemas.openxmlformats.org/drawingml/2006/main">
              <a:ext uri="{FF2B5EF4-FFF2-40B4-BE49-F238E27FC236}">
                <a16:creationId xmlns:a16="http://schemas.microsoft.com/office/drawing/2014/main" id="{EB208E10-8A76-409E-80AE-A4E8E945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75310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8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9CCC4D7B-0BC8-4D7B-84CA-0AF7AA01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781675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824734A6-962D-4163-961B-136F3F12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76262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FRNet → 语义分割（clustering 前）</a:t>
            </a:r>
          </a:p>
        </p:txBody>
      </p:sp>
      <p:sp>
        <p:nvSpPr>
          <p:cNvPr id="42" name="圆角矩形 41">
            <a:extLst xmlns:a="http://schemas.openxmlformats.org/drawingml/2006/main">
              <a:ext uri="{FF2B5EF4-FFF2-40B4-BE49-F238E27FC236}">
                <a16:creationId xmlns:a16="http://schemas.microsoft.com/office/drawing/2014/main" id="{3204BB95-B46B-4F39-9E41-A15F0CD98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75310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C9CC889D-5BCC-4866-AB37-DFB8D861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781675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CAB10F93-EFD7-4119-B7EF-37B7CD9E3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76262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ROI fusion → Projection fusion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438FAA49-1295-447A-AFEF-4DC3292D0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115050"/>
            <a:ext cx="676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图源：Autoware 官方感知参考架构</a:t>
            </a:r>
          </a:p>
        </p:txBody>
      </p:sp>
    </p:spTree>
    <p:extLst>
      <p:ext uri="{BB962C8B-B14F-4D97-AF65-F5344CB8AC3E}">
        <p14:creationId xmlns:p14="http://schemas.microsoft.com/office/powerpoint/2010/main" val="11354670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5-eyebrow">
            <a:extLst xmlns:a="http://schemas.openxmlformats.org/drawingml/2006/main">
              <a:ext uri="{FF2B5EF4-FFF2-40B4-BE49-F238E27FC236}">
                <a16:creationId xmlns:a16="http://schemas.microsoft.com/office/drawing/2014/main" id="{C29B0B70-2992-4BDD-8440-E284AE64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284C7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0284C7"/>
                </a:solidFill>
                <a:latin typeface="微软雅黑"/>
                <a:ea typeface="微软雅黑"/>
                <a:cs typeface="微软雅黑"/>
              </a:rPr>
              <a:t>NODE 03 · OBJECT-LEVEL</a:t>
            </a:r>
          </a:p>
        </p:txBody>
      </p:sp>
      <p:sp>
        <p:nvSpPr>
          <p:cNvPr id="2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98CD42AF-934C-4BA1-82B3-B4D7FA7D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CenterPoint 直接给出可用的 3D 检测目标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55CEC31-7475-4410-B0E7-F3B4D707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solidFill>
              <a:srgbClr val="DCE5EF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3905FE4-7314-4C3A-88D8-A8EDB72E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组会学习汇报 · 2026.08.05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02CED02-4C66-4128-A415-B51A35A4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6" name="圆角矩形 5">
            <a:extLst xmlns:a="http://schemas.openxmlformats.org/drawingml/2006/main">
              <a:ext uri="{FF2B5EF4-FFF2-40B4-BE49-F238E27FC236}">
                <a16:creationId xmlns:a16="http://schemas.microsoft.com/office/drawing/2014/main" id="{3684A918-FCF9-4DAA-B5A3-6CA831A9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657225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pic>
        <p:nvPicPr>
          <p:cNvPr id="30" name="图片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fddfe6e6ab42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2148742"/>
            <a:ext cx="6381750" cy="2179517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63A1132D-50B2-47DA-9A37-09C6001D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6305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图源：CenterPoint 作者官方仓库</a:t>
            </a:r>
          </a:p>
        </p:txBody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F18DD02C-F8A6-4B4F-A4C7-C88F896A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6572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929941C5-BAE1-4890-9AD1-401A9536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05475"/>
            <a:ext cx="6153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85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6A34A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6A34A"/>
                </a:solidFill>
                <a:latin typeface="微软雅黑"/>
                <a:ea typeface="微软雅黑"/>
                <a:cs typeface="微软雅黑"/>
              </a:rPr>
              <a:t>它直接回答目标在哪里、是什么类别，以及 3D 框多大。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95F704C-B90A-4200-B8BE-14A69B43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4668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6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具体输入输出例子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3D51FA2-4DC9-426F-9D3A-317554AA7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809750"/>
            <a:ext cx="3943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假设场景：前方约 12 m 一辆车，右前方约 8 m 一名行人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defRPr>
            </a:p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67EC900-A4D8-4319-A9B0-D886AA1D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050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284C7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284C7"/>
                </a:solidFill>
                <a:latin typeface="微软雅黑"/>
                <a:ea typeface="微软雅黑"/>
                <a:cs typeface="微软雅黑"/>
              </a:rPr>
              <a:t>INPUT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7CF663B4-FAAE-495C-BC65-96222C2E6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5717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sensor_msgs/msg/PointCloud2</a:t>
            </a: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526E8DFE-1A8D-4C20-B62C-640FAE6D4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914650"/>
            <a:ext cx="39433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3363E8A-70CC-4D86-9757-BC4693819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028950"/>
            <a:ext cx="3600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整帧场景点云：车辆点、行人点、道路与背景点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p1 p2 p3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7139D8EC-32E1-4A79-AAB0-2F0CDF97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671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71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16A34A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6A34A"/>
                </a:solidFill>
                <a:latin typeface="微软雅黑"/>
                <a:ea typeface="微软雅黑"/>
                <a:cs typeface="微软雅黑"/>
              </a:rPr>
              <a:t>↓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E42296FC-1C8A-4A34-9CB8-99E581607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1910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6A34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A34A"/>
                </a:solidFill>
                <a:latin typeface="微软雅黑"/>
                <a:ea typeface="微软雅黑"/>
                <a:cs typeface="微软雅黑"/>
              </a:rPr>
              <a:t>OUTPUT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F0B410DB-4D27-4798-91A4-22C812CF9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457700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DetectedObjects</a:t>
            </a:r>
          </a:p>
        </p:txBody>
      </p: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91BBEFE2-F620-4F7F-AFAD-DF058D394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800600"/>
            <a:ext cx="39433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EC342D72-F97E-4472-B1B2-0B63E00A2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914900"/>
            <a:ext cx="36004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#1 CAR：pos=(12.2, 1.8, 0.0)m，p=0.94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size=(4.5, 1.8, 1.6)m，yaw=3°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#2 PEDESTRIAN：pos=(8.1, −2.0, 0.0)m，p=0.87</a:t>
            </a:r>
          </a:p>
        </p:txBody>
      </p:sp>
    </p:spTree>
    <p:extLst>
      <p:ext uri="{BB962C8B-B14F-4D97-AF65-F5344CB8AC3E}">
        <p14:creationId xmlns:p14="http://schemas.microsoft.com/office/powerpoint/2010/main" val="11444239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4-eyebrow">
            <a:extLst xmlns:a="http://schemas.openxmlformats.org/drawingml/2006/main">
              <a:ext uri="{FF2B5EF4-FFF2-40B4-BE49-F238E27FC236}">
                <a16:creationId xmlns:a16="http://schemas.microsoft.com/office/drawing/2014/main" id="{BDE40343-9DF8-4920-86CF-5D082D33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284C7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0284C7"/>
                </a:solidFill>
                <a:latin typeface="微软雅黑"/>
                <a:ea typeface="微软雅黑"/>
                <a:cs typeface="微软雅黑"/>
              </a:rPr>
              <a:t>NODE 02 · INSTANCE-LEVEL</a:t>
            </a:r>
          </a:p>
        </p:txBody>
      </p:sp>
      <p:sp>
        <p:nvSpPr>
          <p:cNvPr id="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ABAC598F-9FCD-4D9A-A868-8547BD42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Apollo 把点分成实例，并保留每个目标的点簇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ECB1BB1-6609-4B22-8EB4-CFD4D150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solidFill>
              <a:srgbClr val="DCE5EF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2C4CD9E-8B57-4857-B2A4-B044F727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组会学习汇报 · 2026.08.05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4BAC514-295E-43FC-AE2B-A662027F8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6" name="圆角矩形 5">
            <a:extLst xmlns:a="http://schemas.openxmlformats.org/drawingml/2006/main">
              <a:ext uri="{FF2B5EF4-FFF2-40B4-BE49-F238E27FC236}">
                <a16:creationId xmlns:a16="http://schemas.microsoft.com/office/drawing/2014/main" id="{F0C312F2-829B-4157-918C-F7798B60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657225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pic>
        <p:nvPicPr>
          <p:cNvPr id="30" name="图片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864ca189af46a3"/>
          <a:srcRect xmlns:a="http://schemas.openxmlformats.org/drawingml/2006/main" l="0" t="3399" r="0" b="33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619250"/>
            <a:ext cx="6381750" cy="3238500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A43BD11F-B1CB-43FD-841E-2D80EF7B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6572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125C20F-99FC-463E-A2E0-A42B2A90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05475"/>
            <a:ext cx="6153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85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7C3AED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7C3AED"/>
                </a:solidFill>
                <a:latin typeface="微软雅黑"/>
                <a:ea typeface="微软雅黑"/>
                <a:cs typeface="微软雅黑"/>
              </a:rPr>
              <a:t>它回答“哪些点属于同一目标”，点簇仍可继续投影到图像。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787A78FB-BB1D-4BE9-926B-59A639F9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4668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6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具体输入输出例子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DE1DEA8F-1C42-4EC3-A94E-76774E03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809750"/>
            <a:ext cx="3943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假设场景：前方约 12 m 一辆车，右前方约 8 m 一名行人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defRPr>
            </a:p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B7866D91-84E2-4F11-81C5-CE0DD019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050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284C7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284C7"/>
                </a:solidFill>
                <a:latin typeface="微软雅黑"/>
                <a:ea typeface="微软雅黑"/>
                <a:cs typeface="微软雅黑"/>
              </a:rPr>
              <a:t>INPUT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9346BF48-1D92-4029-9B1D-87078DE4B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5717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sensor_msgs/msg/PointCloud2</a:t>
            </a: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E56F842E-97D5-4CEF-9A06-69292B85B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914650"/>
            <a:ext cx="39433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2DF767E-543A-4330-8545-D7068ACC4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028950"/>
            <a:ext cx="3600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P₁=(12.1, 1.8, 0.6)，P₂=(12.3, 1.7, 0.7)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P₃=(8.2, −2.0, 1.1)，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2CBD5948-7610-48BB-AF55-D066D00A7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671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71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7C3AED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7C3AED"/>
                </a:solidFill>
                <a:latin typeface="微软雅黑"/>
                <a:ea typeface="微软雅黑"/>
                <a:cs typeface="微软雅黑"/>
              </a:rPr>
              <a:t>↓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F1A7D458-E9BF-43F9-9D5A-498D8BFC1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1910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7C3AED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7C3AED"/>
                </a:solidFill>
                <a:latin typeface="微软雅黑"/>
                <a:ea typeface="微软雅黑"/>
                <a:cs typeface="微软雅黑"/>
              </a:rPr>
              <a:t>OUTPUT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CDEC5EEF-20C7-4F62-A5F8-AB641D350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457700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DetectedObjectsWithFeature</a:t>
            </a:r>
          </a:p>
        </p:txBody>
      </p: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4BB5DD20-6280-4471-B363-BA4D59FC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800600"/>
            <a:ext cx="39433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1EDF1706-3164-4B4B-9035-6DB52DB7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914900"/>
            <a:ext cx="36004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Object #1：CAR，cluster={P₁, P₂, …}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Object #2：PEDESTRIAN，cluster={P₃, …}</a:t>
            </a:r>
          </a:p>
        </p:txBody>
      </p:sp>
    </p:spTree>
    <p:extLst>
      <p:ext uri="{BB962C8B-B14F-4D97-AF65-F5344CB8AC3E}">
        <p14:creationId xmlns:p14="http://schemas.microsoft.com/office/powerpoint/2010/main" val="119790905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lide-7-eyebrow">
            <a:extLst xmlns:a="http://schemas.openxmlformats.org/drawingml/2006/main">
              <a:ext uri="{FF2B5EF4-FFF2-40B4-BE49-F238E27FC236}">
                <a16:creationId xmlns:a16="http://schemas.microsoft.com/office/drawing/2014/main" id="{630382ED-F562-444A-971E-ABD7D896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284C7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0284C7"/>
                </a:solidFill>
                <a:latin typeface="微软雅黑"/>
                <a:ea typeface="微软雅黑"/>
                <a:cs typeface="微软雅黑"/>
              </a:rPr>
              <a:t>INTERFACE ROUTING</a:t>
            </a:r>
          </a:p>
        </p:txBody>
      </p:sp>
      <p:sp>
        <p:nvSpPr>
          <p:cNvPr id="2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A0362F33-FB79-401A-8F37-31639650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输出层级决定模块在架构中的位置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B8856F0-ACCF-4322-9748-FDD85564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solidFill>
              <a:srgbClr val="DCE5EF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03DA1E0C-29F6-45DF-B620-D7D31F20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组会学习汇报 · 2026.08.05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EEC6074-7E56-47D8-8839-83F8C1A2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0EFF5C6-4BB9-4CCD-A443-7BB62588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DE26274-BF8A-46CB-B348-96576E38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350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Apollo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FF05823-414B-4651-AE80-DC8AB9A7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57375"/>
            <a:ext cx="3505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7C3AE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7C3AED"/>
                </a:solidFill>
                <a:latin typeface="微软雅黑"/>
                <a:ea typeface="微软雅黑"/>
                <a:cs typeface="微软雅黑"/>
              </a:rPr>
              <a:t>输出：实例点簇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132C22CB-490C-4DB6-B533-655564D85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24075"/>
            <a:ext cx="3505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字段：类别 · 置信度 · 点簇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3744443-0DD5-46C6-B51A-D517FB22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350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7C3AE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C3AED"/>
                </a:solidFill>
                <a:latin typeface="微软雅黑"/>
                <a:ea typeface="微软雅黑"/>
                <a:cs typeface="微软雅黑"/>
              </a:rPr>
              <a:t>→  roi_cluster_fusion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7192DD0-596F-4B7C-8D7C-B70CE2B2E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09875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0322D50-EBA5-47D5-B9E8-60C29892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9875"/>
            <a:ext cx="350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CenterPoint / TransFusion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95522E97-81D3-4B70-9571-BBDAC6DEA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3505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6A34A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6A34A"/>
                </a:solidFill>
                <a:latin typeface="微软雅黑"/>
                <a:ea typeface="微软雅黑"/>
                <a:cs typeface="微软雅黑"/>
              </a:rPr>
              <a:t>输出：完整 3D 目标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AF1EC75C-92CD-466E-8224-8F04D122F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09950"/>
            <a:ext cx="3505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字段：类别 · 置信度 · 位姿 · 尺寸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8CEE415-18C7-4ECB-A278-5773748F2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48075"/>
            <a:ext cx="350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6A34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6A34A"/>
                </a:solidFill>
                <a:latin typeface="微软雅黑"/>
                <a:ea typeface="微软雅黑"/>
                <a:cs typeface="微软雅黑"/>
              </a:rPr>
              <a:t>→  roi_detected_object_fusion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2B422C8F-56B9-4282-AA8A-D1256A92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0">
            <a:solidFill>
              <a:srgbClr val="0284C7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518710CB-830F-47EB-B704-9B7FB2C3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350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FRNet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07A45A37-6BCA-44DA-BEDD-0F67997D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29125"/>
            <a:ext cx="3505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284C7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0284C7"/>
                </a:solidFill>
                <a:latin typeface="微软雅黑"/>
                <a:ea typeface="微软雅黑"/>
                <a:cs typeface="微软雅黑"/>
              </a:rPr>
              <a:t>输出：语义点云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90926E8B-4A4F-45B3-9423-D33D9AEC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95825"/>
            <a:ext cx="3505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字段：x/y/z · class_id · probability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AA48EDD-052B-4328-99EA-5F7D4E00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33950"/>
            <a:ext cx="350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284C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284C7"/>
                </a:solidFill>
                <a:latin typeface="微软雅黑"/>
                <a:ea typeface="微软雅黑"/>
                <a:cs typeface="微软雅黑"/>
              </a:rPr>
              <a:t>→  先聚类形成目标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8E809EDB-D03A-4136-9346-118082A3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435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D97706"/>
                </a:solidFill>
                <a:latin typeface="微软雅黑"/>
                <a:ea typeface="微软雅黑"/>
                <a:cs typeface="微软雅黑"/>
              </a:defRPr>
            </a:pPr>
          </a:p>
        </p:txBody>
      </p:sp>
      <p:sp>
        <p:nvSpPr>
          <p:cNvPr id="23" name="圆角矩形 22">
            <a:extLst xmlns:a="http://schemas.openxmlformats.org/drawingml/2006/main">
              <a:ext uri="{FF2B5EF4-FFF2-40B4-BE49-F238E27FC236}">
                <a16:creationId xmlns:a16="http://schemas.microsoft.com/office/drawing/2014/main" id="{974839CA-4C29-4D7C-A155-278893EDC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485900"/>
            <a:ext cx="702945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pic>
        <p:nvPicPr>
          <p:cNvPr id="70" name="图片 6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9789caa7be437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14689" y="1581150"/>
            <a:ext cx="4258372" cy="3714750"/>
          </a:xfrm>
          <a:prstGeom xmlns:a="http://schemas.openxmlformats.org/drawingml/2006/main" prst="roundRect">
            <a:avLst>
              <a:gd name="adj" fmla="val 2051"/>
            </a:avLst>
          </a:prstGeom>
        </p:spPr>
      </p:pic>
      <p:sp>
        <p:nvSpPr>
          <p:cNvPr id="25" name="圆角矩形 24">
            <a:extLst xmlns:a="http://schemas.openxmlformats.org/drawingml/2006/main">
              <a:ext uri="{FF2B5EF4-FFF2-40B4-BE49-F238E27FC236}">
                <a16:creationId xmlns:a16="http://schemas.microsoft.com/office/drawing/2014/main" id="{D15758F4-A7EA-4995-950A-42020274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96240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459EC0DA-60E2-4D9F-8ECA-4E7C248A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0005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27" name="圆角矩形 26">
            <a:extLst xmlns:a="http://schemas.openxmlformats.org/drawingml/2006/main">
              <a:ext uri="{FF2B5EF4-FFF2-40B4-BE49-F238E27FC236}">
                <a16:creationId xmlns:a16="http://schemas.microsoft.com/office/drawing/2014/main" id="{2A98EFEE-E418-4CAD-A8CA-1BC521ACB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6240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797B4F9C-01BF-4E26-9448-F2A841E8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0005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29" name="圆角矩形 28">
            <a:extLst xmlns:a="http://schemas.openxmlformats.org/drawingml/2006/main">
              <a:ext uri="{FF2B5EF4-FFF2-40B4-BE49-F238E27FC236}">
                <a16:creationId xmlns:a16="http://schemas.microsoft.com/office/drawing/2014/main" id="{16FD8905-DB4E-4665-B83B-1F86E606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58140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8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7BCFB097-825E-411A-A4DC-C32729236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6195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31" name="圆角矩形 30">
            <a:extLst xmlns:a="http://schemas.openxmlformats.org/drawingml/2006/main">
              <a:ext uri="{FF2B5EF4-FFF2-40B4-BE49-F238E27FC236}">
                <a16:creationId xmlns:a16="http://schemas.microsoft.com/office/drawing/2014/main" id="{81FE0561-414A-42A5-8D41-263AA62DE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4767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D23C3F88-9F57-43EA-9416-195F0D32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5148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33" name="圆角矩形 32">
            <a:extLst xmlns:a="http://schemas.openxmlformats.org/drawingml/2006/main">
              <a:ext uri="{FF2B5EF4-FFF2-40B4-BE49-F238E27FC236}">
                <a16:creationId xmlns:a16="http://schemas.microsoft.com/office/drawing/2014/main" id="{EB2C873A-2A02-4B4E-8402-A72283A08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46735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F5087163-C1A6-4160-BBB7-480870290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495925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C565366F-B9AE-4101-976B-EC4D9DB3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4768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CenterPoint / TransFusion → 3D detector</a:t>
            </a:r>
          </a:p>
        </p:txBody>
      </p:sp>
      <p:sp>
        <p:nvSpPr>
          <p:cNvPr id="36" name="圆角矩形 35">
            <a:extLst xmlns:a="http://schemas.openxmlformats.org/drawingml/2006/main">
              <a:ext uri="{FF2B5EF4-FFF2-40B4-BE49-F238E27FC236}">
                <a16:creationId xmlns:a16="http://schemas.microsoft.com/office/drawing/2014/main" id="{626505AF-9CD2-4985-A31F-4C415A24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46735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ADBA31B7-C5B6-46DA-AE64-50B8C836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495925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D30FC8CE-CEDE-45C2-BAF3-E9206214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4768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Apollo → LiDAR clustering</a:t>
            </a:r>
          </a:p>
        </p:txBody>
      </p:sp>
      <p:sp>
        <p:nvSpPr>
          <p:cNvPr id="39" name="圆角矩形 38">
            <a:extLst xmlns:a="http://schemas.openxmlformats.org/drawingml/2006/main">
              <a:ext uri="{FF2B5EF4-FFF2-40B4-BE49-F238E27FC236}">
                <a16:creationId xmlns:a16="http://schemas.microsoft.com/office/drawing/2014/main" id="{EB208E10-8A76-409E-80AE-A4E8E945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75310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8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9CCC4D7B-0BC8-4D7B-84CA-0AF7AA01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781675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824734A6-962D-4163-961B-136F3F12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76262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FRNet → 语义分割（clustering 前）</a:t>
            </a:r>
          </a:p>
        </p:txBody>
      </p:sp>
      <p:sp>
        <p:nvSpPr>
          <p:cNvPr id="42" name="圆角矩形 41">
            <a:extLst xmlns:a="http://schemas.openxmlformats.org/drawingml/2006/main">
              <a:ext uri="{FF2B5EF4-FFF2-40B4-BE49-F238E27FC236}">
                <a16:creationId xmlns:a16="http://schemas.microsoft.com/office/drawing/2014/main" id="{3204BB95-B46B-4F39-9E41-A15F0CD98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75310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C9CC889D-5BCC-4866-AB37-DFB8D861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781675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CAB10F93-EFD7-4119-B7EF-37B7CD9E3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76262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ROI fusion → Projection fusion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438FAA49-1295-447A-AFEF-4DC3292D0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115050"/>
            <a:ext cx="676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图源：Autoware 官方感知参考架构</a:t>
            </a:r>
          </a:p>
        </p:txBody>
      </p:sp>
    </p:spTree>
    <p:extLst>
      <p:ext uri="{BB962C8B-B14F-4D97-AF65-F5344CB8AC3E}">
        <p14:creationId xmlns:p14="http://schemas.microsoft.com/office/powerpoint/2010/main" val="11354670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68BC2C66-AC33-496C-89D9-DCF8CF6C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LiDAR TransFusion 当前仍是 LiDAR-only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3A47E35-B748-4CB3-9D02-30D2756F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solidFill>
              <a:srgbClr val="DCE5EF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16B79AD-243A-42EC-80E5-E1558544E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组会学习汇报 · 2026.08.05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9EF4C44-A626-4D4D-8A13-A35CDD628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7C1D6CE3-F71C-4A5F-9BE9-886297F5C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657225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pic>
        <p:nvPicPr>
          <p:cNvPr id="25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25192954634d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981943"/>
            <a:ext cx="6381750" cy="2513114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EBB7833-B46C-4327-99EB-F63E936F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6305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论文模型图含 Camera 分支｜当前 Autoware 节点接口仍只声明点云输入</a:t>
            </a: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CFC77C52-3DB8-4BC4-9390-A285CDC8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6572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13CEF1CA-9876-4E19-8CDE-6D3F8204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05475"/>
            <a:ext cx="6153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85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D97706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D97706"/>
                </a:solidFill>
                <a:latin typeface="微软雅黑"/>
                <a:ea typeface="微软雅黑"/>
                <a:cs typeface="微软雅黑"/>
              </a:rPr>
              <a:t>名称中的 Fusion，不等于当前 ROS 2 节点已经订阅相机。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E292C2C-7940-4FF7-9860-C7FCF266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4668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6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具体输入输出例子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04583D9-9C4A-4FEF-B99B-CB76C8BA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809750"/>
            <a:ext cx="3943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假设场景：前方约 12 m 一辆车，右前方约 8 m 一名行人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defRPr>
            </a:pP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83A80E66-698A-4057-88BB-47BB53151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43150"/>
            <a:ext cx="39433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41EC62D4-E23D-49A0-BAF6-1C83EA23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495550"/>
            <a:ext cx="35623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INPUT · sensor_msgs/msg/PointCloud2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同一帧 LiDAR 场景点云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5279E226-5777-42E9-8078-B8C8180DD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671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71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16A34A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6A34A"/>
                </a:solidFill>
                <a:latin typeface="微软雅黑"/>
                <a:ea typeface="微软雅黑"/>
                <a:cs typeface="微软雅黑"/>
              </a:rPr>
              <a:t>↓</a:t>
            </a: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169E7B86-7F94-4F05-BA02-BAE9ED77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267200"/>
            <a:ext cx="39433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C688224D-2FEC-4EC7-ACAB-47FCB556A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400550"/>
            <a:ext cx="35623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OUTPUT · DetectedObjects</a:t>
            </a:r>
          </a:p>
          <a:p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#1 CAR：pos=(12.2, 1.8, 0.0)m，p=0.94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size=(4.5, 1.8, 1.6)m，yaw=3°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#2 PEDESTRIAN：pos=(8.1, −2.0, 0.0)m，p=0.87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79537A4A-FA4E-4E5F-891C-B043367D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284C7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0284C7"/>
                </a:solidFill>
                <a:latin typeface="微软雅黑"/>
                <a:ea typeface="微软雅黑"/>
                <a:cs typeface="微软雅黑"/>
              </a:rPr>
              <a:t>NODE 04 · OBJECT-LEVEL</a:t>
            </a:r>
          </a:p>
        </p:txBody>
      </p:sp>
    </p:spTree>
    <p:extLst>
      <p:ext uri="{BB962C8B-B14F-4D97-AF65-F5344CB8AC3E}">
        <p14:creationId xmlns:p14="http://schemas.microsoft.com/office/powerpoint/2010/main" val="16136194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lide-7-eyebrow">
            <a:extLst xmlns:a="http://schemas.openxmlformats.org/drawingml/2006/main">
              <a:ext uri="{FF2B5EF4-FFF2-40B4-BE49-F238E27FC236}">
                <a16:creationId xmlns:a16="http://schemas.microsoft.com/office/drawing/2014/main" id="{630382ED-F562-444A-971E-ABD7D896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284C7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0284C7"/>
                </a:solidFill>
                <a:latin typeface="微软雅黑"/>
                <a:ea typeface="微软雅黑"/>
                <a:cs typeface="微软雅黑"/>
              </a:rPr>
              <a:t>INTERFACE ROUTING</a:t>
            </a:r>
          </a:p>
        </p:txBody>
      </p:sp>
      <p:sp>
        <p:nvSpPr>
          <p:cNvPr id="2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A0362F33-FB79-401A-8F37-31639650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输出层级决定模块在架构中的位置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B8856F0-ACCF-4322-9748-FDD85564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solidFill>
              <a:srgbClr val="DCE5EF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03DA1E0C-29F6-45DF-B620-D7D31F20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组会学习汇报 · 2026.08.05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EEC6074-7E56-47D8-8839-83F8C1A2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0EFF5C6-4BB9-4CCD-A443-7BB62588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DE26274-BF8A-46CB-B348-96576E38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350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Apollo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FF05823-414B-4651-AE80-DC8AB9A7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57375"/>
            <a:ext cx="3505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7C3AE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7C3AED"/>
                </a:solidFill>
                <a:latin typeface="微软雅黑"/>
                <a:ea typeface="微软雅黑"/>
                <a:cs typeface="微软雅黑"/>
              </a:rPr>
              <a:t>输出：实例点簇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132C22CB-490C-4DB6-B533-655564D85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24075"/>
            <a:ext cx="3505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字段：类别 · 置信度 · 点簇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3744443-0DD5-46C6-B51A-D517FB22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350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7C3AE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C3AED"/>
                </a:solidFill>
                <a:latin typeface="微软雅黑"/>
                <a:ea typeface="微软雅黑"/>
                <a:cs typeface="微软雅黑"/>
              </a:rPr>
              <a:t>→  roi_cluster_fusion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7192DD0-596F-4B7C-8D7C-B70CE2B2E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09875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0322D50-EBA5-47D5-B9E8-60C29892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9875"/>
            <a:ext cx="350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CenterPoint / TransFusion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95522E97-81D3-4B70-9571-BBDAC6DEA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3505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6A34A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6A34A"/>
                </a:solidFill>
                <a:latin typeface="微软雅黑"/>
                <a:ea typeface="微软雅黑"/>
                <a:cs typeface="微软雅黑"/>
              </a:rPr>
              <a:t>输出：完整 3D 目标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AF1EC75C-92CD-466E-8224-8F04D122F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09950"/>
            <a:ext cx="3505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字段：类别 · 置信度 · 位姿 · 尺寸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8CEE415-18C7-4ECB-A278-5773748F2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48075"/>
            <a:ext cx="350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6A34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6A34A"/>
                </a:solidFill>
                <a:latin typeface="微软雅黑"/>
                <a:ea typeface="微软雅黑"/>
                <a:cs typeface="微软雅黑"/>
              </a:rPr>
              <a:t>→  roi_detected_object_fusion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2B422C8F-56B9-4282-AA8A-D1256A92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0">
            <a:solidFill>
              <a:srgbClr val="0284C7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518710CB-830F-47EB-B704-9B7FB2C3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350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FRNet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07A45A37-6BCA-44DA-BEDD-0F67997D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29125"/>
            <a:ext cx="3505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284C7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0284C7"/>
                </a:solidFill>
                <a:latin typeface="微软雅黑"/>
                <a:ea typeface="微软雅黑"/>
                <a:cs typeface="微软雅黑"/>
              </a:rPr>
              <a:t>输出：语义点云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90926E8B-4A4F-45B3-9423-D33D9AEC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95825"/>
            <a:ext cx="3505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字段：x/y/z · class_id · probability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AA48EDD-052B-4328-99EA-5F7D4E00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33950"/>
            <a:ext cx="350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284C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284C7"/>
                </a:solidFill>
                <a:latin typeface="微软雅黑"/>
                <a:ea typeface="微软雅黑"/>
                <a:cs typeface="微软雅黑"/>
              </a:rPr>
              <a:t>→  先聚类形成目标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8E809EDB-D03A-4136-9346-118082A3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435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D97706"/>
                </a:solidFill>
                <a:latin typeface="微软雅黑"/>
                <a:ea typeface="微软雅黑"/>
                <a:cs typeface="微软雅黑"/>
              </a:defRPr>
            </a:pPr>
          </a:p>
        </p:txBody>
      </p:sp>
      <p:sp>
        <p:nvSpPr>
          <p:cNvPr id="23" name="圆角矩形 22">
            <a:extLst xmlns:a="http://schemas.openxmlformats.org/drawingml/2006/main">
              <a:ext uri="{FF2B5EF4-FFF2-40B4-BE49-F238E27FC236}">
                <a16:creationId xmlns:a16="http://schemas.microsoft.com/office/drawing/2014/main" id="{974839CA-4C29-4D7C-A155-278893EDC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485900"/>
            <a:ext cx="702945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pic>
        <p:nvPicPr>
          <p:cNvPr id="70" name="图片 6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5722ef924544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14689" y="1581150"/>
            <a:ext cx="4258372" cy="3714750"/>
          </a:xfrm>
          <a:prstGeom xmlns:a="http://schemas.openxmlformats.org/drawingml/2006/main" prst="roundRect">
            <a:avLst>
              <a:gd name="adj" fmla="val 2051"/>
            </a:avLst>
          </a:prstGeom>
        </p:spPr>
      </p:pic>
      <p:sp>
        <p:nvSpPr>
          <p:cNvPr id="25" name="圆角矩形 24">
            <a:extLst xmlns:a="http://schemas.openxmlformats.org/drawingml/2006/main">
              <a:ext uri="{FF2B5EF4-FFF2-40B4-BE49-F238E27FC236}">
                <a16:creationId xmlns:a16="http://schemas.microsoft.com/office/drawing/2014/main" id="{D15758F4-A7EA-4995-950A-42020274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96240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459EC0DA-60E2-4D9F-8ECA-4E7C248A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0005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27" name="圆角矩形 26">
            <a:extLst xmlns:a="http://schemas.openxmlformats.org/drawingml/2006/main">
              <a:ext uri="{FF2B5EF4-FFF2-40B4-BE49-F238E27FC236}">
                <a16:creationId xmlns:a16="http://schemas.microsoft.com/office/drawing/2014/main" id="{2A98EFEE-E418-4CAD-A8CA-1BC521ACB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6240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797B4F9C-01BF-4E26-9448-F2A841E8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0005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29" name="圆角矩形 28">
            <a:extLst xmlns:a="http://schemas.openxmlformats.org/drawingml/2006/main">
              <a:ext uri="{FF2B5EF4-FFF2-40B4-BE49-F238E27FC236}">
                <a16:creationId xmlns:a16="http://schemas.microsoft.com/office/drawing/2014/main" id="{16FD8905-DB4E-4665-B83B-1F86E606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58140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8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7BCFB097-825E-411A-A4DC-C32729236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6195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31" name="圆角矩形 30">
            <a:extLst xmlns:a="http://schemas.openxmlformats.org/drawingml/2006/main">
              <a:ext uri="{FF2B5EF4-FFF2-40B4-BE49-F238E27FC236}">
                <a16:creationId xmlns:a16="http://schemas.microsoft.com/office/drawing/2014/main" id="{81FE0561-414A-42A5-8D41-263AA62DE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4767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D23C3F88-9F57-43EA-9416-195F0D32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5148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33" name="圆角矩形 32">
            <a:extLst xmlns:a="http://schemas.openxmlformats.org/drawingml/2006/main">
              <a:ext uri="{FF2B5EF4-FFF2-40B4-BE49-F238E27FC236}">
                <a16:creationId xmlns:a16="http://schemas.microsoft.com/office/drawing/2014/main" id="{EB2C873A-2A02-4B4E-8402-A72283A08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46735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F5087163-C1A6-4160-BBB7-480870290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495925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C565366F-B9AE-4101-976B-EC4D9DB3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4768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CenterPoint / TransFusion → 3D detector</a:t>
            </a:r>
          </a:p>
        </p:txBody>
      </p:sp>
      <p:sp>
        <p:nvSpPr>
          <p:cNvPr id="36" name="圆角矩形 35">
            <a:extLst xmlns:a="http://schemas.openxmlformats.org/drawingml/2006/main">
              <a:ext uri="{FF2B5EF4-FFF2-40B4-BE49-F238E27FC236}">
                <a16:creationId xmlns:a16="http://schemas.microsoft.com/office/drawing/2014/main" id="{626505AF-9CD2-4985-A31F-4C415A24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46735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ADBA31B7-C5B6-46DA-AE64-50B8C836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495925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D30FC8CE-CEDE-45C2-BAF3-E9206214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4768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Apollo → LiDAR clustering</a:t>
            </a:r>
          </a:p>
        </p:txBody>
      </p:sp>
      <p:sp>
        <p:nvSpPr>
          <p:cNvPr id="39" name="圆角矩形 38">
            <a:extLst xmlns:a="http://schemas.openxmlformats.org/drawingml/2006/main">
              <a:ext uri="{FF2B5EF4-FFF2-40B4-BE49-F238E27FC236}">
                <a16:creationId xmlns:a16="http://schemas.microsoft.com/office/drawing/2014/main" id="{EB208E10-8A76-409E-80AE-A4E8E945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75310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8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9CCC4D7B-0BC8-4D7B-84CA-0AF7AA01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781675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824734A6-962D-4163-961B-136F3F12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76262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FRNet → 语义分割（clustering 前）</a:t>
            </a:r>
          </a:p>
        </p:txBody>
      </p:sp>
      <p:sp>
        <p:nvSpPr>
          <p:cNvPr id="42" name="圆角矩形 41">
            <a:extLst xmlns:a="http://schemas.openxmlformats.org/drawingml/2006/main">
              <a:ext uri="{FF2B5EF4-FFF2-40B4-BE49-F238E27FC236}">
                <a16:creationId xmlns:a16="http://schemas.microsoft.com/office/drawing/2014/main" id="{3204BB95-B46B-4F39-9E41-A15F0CD98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75310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C9CC889D-5BCC-4866-AB37-DFB8D861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781675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CAB10F93-EFD7-4119-B7EF-37B7CD9E3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76262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ROI fusion → Projection fusion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438FAA49-1295-447A-AFEF-4DC3292D0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115050"/>
            <a:ext cx="676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图源：Autoware 官方感知参考架构</a:t>
            </a:r>
          </a:p>
        </p:txBody>
      </p:sp>
    </p:spTree>
    <p:extLst>
      <p:ext uri="{BB962C8B-B14F-4D97-AF65-F5344CB8AC3E}">
        <p14:creationId xmlns:p14="http://schemas.microsoft.com/office/powerpoint/2010/main" val="11354670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2-eyebrow">
            <a:extLst xmlns:a="http://schemas.openxmlformats.org/drawingml/2006/main">
              <a:ext uri="{FF2B5EF4-FFF2-40B4-BE49-F238E27FC236}">
                <a16:creationId xmlns:a16="http://schemas.microsoft.com/office/drawing/2014/main" id="{66A1558E-F43C-4437-9337-54CC2D64C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284C7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0284C7"/>
                </a:solidFill>
                <a:latin typeface="微软雅黑"/>
                <a:ea typeface="微软雅黑"/>
                <a:cs typeface="微软雅黑"/>
              </a:rPr>
              <a:t>WHY FUSION</a:t>
            </a:r>
          </a:p>
        </p:txBody>
      </p:sp>
      <p:sp>
        <p:nvSpPr>
          <p:cNvPr id="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14AF235D-A1C2-4EEC-89E1-774D3806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相机给语义，LiDAR 给三维几何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5D539834-7031-4E76-80FF-59BAE0A7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solidFill>
              <a:srgbClr val="DCE5EF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2B8D22B-84B4-4420-BA45-2914D2F8C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组会学习汇报 · 2026.08.05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4D675D0-CBCF-4203-97FD-4CC19F4D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79D6374-BAC1-4964-9F8A-1D4B07D9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64748B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两类传感器观察同一世界，但回答的问题不同。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C8FEEB3-EA59-4AFC-A339-66EF3D7F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38350"/>
            <a:ext cx="2914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0">
            <a:solidFill>
              <a:srgbClr val="0284C7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F993F30-BA55-47BB-A3B9-F202CB8CE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669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284C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284C7"/>
                </a:solidFill>
                <a:latin typeface="微软雅黑"/>
                <a:ea typeface="微软雅黑"/>
                <a:cs typeface="微软雅黑"/>
              </a:rPr>
              <a:t>CAMERA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E4E97796-E1D9-4B67-BD47-0CB18267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860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相机：是什么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E353BAD6-E39D-4776-9E68-FE349E55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3048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车辆、行人等类别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颜色、标志与纹理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单目深度和尺度不稳定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65913E3-1BFB-4D41-BC96-2046ADF7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21945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4050" b="1">
                <a:solidFill>
                  <a:srgbClr val="7C3AED"/>
                </a:solidFill>
                <a:latin typeface="微软雅黑"/>
                <a:ea typeface="微软雅黑"/>
                <a:cs typeface="微软雅黑"/>
              </a:defRPr>
            </a:pPr>
            <a:r>
              <a:rPr sz="4050" b="1">
                <a:solidFill>
                  <a:srgbClr val="7C3AED"/>
                </a:solidFill>
                <a:latin typeface="微软雅黑"/>
                <a:ea typeface="微软雅黑"/>
                <a:cs typeface="微软雅黑"/>
              </a:rPr>
              <a:t>+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DD6EFFDA-3AC5-42C4-A9F6-89F9D833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038350"/>
            <a:ext cx="2914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B71D1B1D-C006-4A39-ADAE-DBE9E4E25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2669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6A34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6A34A"/>
                </a:solidFill>
                <a:latin typeface="微软雅黑"/>
                <a:ea typeface="微软雅黑"/>
                <a:cs typeface="微软雅黑"/>
              </a:rPr>
              <a:t>LiDAR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1EA76F2-8DDC-4C56-A3FC-B292DA00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68605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LiDAR：在哪里、多大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F1D02556-A68F-4F9E-94CA-3D691343C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52800"/>
            <a:ext cx="323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距离、位置与轮廓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直接形成三维点云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原始点的类别信息较弱</a:t>
            </a:r>
          </a:p>
        </p:txBody>
      </p:sp>
      <p:sp>
        <p:nvSpPr>
          <p:cNvPr id="16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D31FC6EF-BBB3-44DD-9BFF-ED01347E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38350"/>
            <a:ext cx="2247900" cy="266700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94316DD7-FBC2-4AAE-87EB-85ECEA2E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3431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7C3AE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C3AED"/>
                </a:solidFill>
                <a:latin typeface="微软雅黑"/>
                <a:ea typeface="微软雅黑"/>
                <a:cs typeface="微软雅黑"/>
              </a:rPr>
              <a:t>FUSION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F0131F9A-16B9-42C4-806E-971CB65D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57500"/>
            <a:ext cx="1790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39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25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是不是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25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同一个目标？</a:t>
            </a:r>
          </a:p>
        </p:txBody>
      </p:sp>
      <p:sp>
        <p:nvSpPr>
          <p:cNvPr id="19" name="圆角矩形 18">
            <a:extLst xmlns:a="http://schemas.openxmlformats.org/drawingml/2006/main">
              <a:ext uri="{FF2B5EF4-FFF2-40B4-BE49-F238E27FC236}">
                <a16:creationId xmlns:a16="http://schemas.microsoft.com/office/drawing/2014/main" id="{AFB6952F-36BE-4B68-AB12-B04B40726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00650"/>
            <a:ext cx="103251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D75A7F87-DBC4-4804-90EC-83C32C09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62575"/>
            <a:ext cx="975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73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相机补类别，LiDAR 补三维，融合节点确认两边描述的是同一目标。</a:t>
            </a:r>
          </a:p>
        </p:txBody>
      </p:sp>
    </p:spTree>
    <p:extLst>
      <p:ext uri="{BB962C8B-B14F-4D97-AF65-F5344CB8AC3E}">
        <p14:creationId xmlns:p14="http://schemas.microsoft.com/office/powerpoint/2010/main" val="11923073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lide-11-eyebrow">
            <a:extLst xmlns:a="http://schemas.openxmlformats.org/drawingml/2006/main">
              <a:ext uri="{FF2B5EF4-FFF2-40B4-BE49-F238E27FC236}">
                <a16:creationId xmlns:a16="http://schemas.microsoft.com/office/drawing/2014/main" id="{FE395474-CAE0-4063-9504-1F4FA117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284C7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0284C7"/>
                </a:solidFill>
                <a:latin typeface="微软雅黑"/>
                <a:ea typeface="微软雅黑"/>
                <a:cs typeface="微软雅黑"/>
              </a:rPr>
              <a:t>CURRENT STATE → NEXT EVIDENCE</a:t>
            </a:r>
          </a:p>
        </p:txBody>
      </p:sp>
      <p:sp>
        <p:nvSpPr>
          <p:cNvPr id="2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6595D31D-FA5F-46AB-A76F-1597BD17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当前完成了架构理解，下一步补真实验证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5D6C491-AD22-440D-9C1F-6C7EA1A9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solidFill>
              <a:srgbClr val="DCE5EF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2600C4B-C6D1-4BF2-A41D-C2BE2E961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组会学习汇报 · 2026.08.05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030E41E6-6C98-4376-A112-DBB68B70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4E96D21-A19C-423F-AFD9-BCD98B83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6A34A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6A34A"/>
                </a:solidFill>
                <a:latin typeface="微软雅黑"/>
                <a:ea typeface="微软雅黑"/>
                <a:cs typeface="微软雅黑"/>
              </a:rPr>
              <a:t>已完成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1CF44DA-A1DA-4FFC-BD96-283F6E0AC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466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6A45940-B969-4513-AD82-E9B5AE7E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16A34A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6A34A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08EB1B9-FB98-491E-B947-B2DAF7BC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003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感知架构中的融合位置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85E5476-0232-4DB6-BE53-E0422943D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16A34A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6A34A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4AA0EBA4-741B-4855-9D5A-E2BDB2CA6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480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四个 LiDAR 包的输出层级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2045EBFA-68A4-4E88-A4EF-E93C6E0E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16A34A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6A34A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85ED119D-7429-4202-87EF-F0ABB06C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957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不同输出对应的融合分支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85702AE-90F3-408A-B45C-79591AEA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002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DC2626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DC2626"/>
                </a:solidFill>
                <a:latin typeface="微软雅黑"/>
                <a:ea typeface="微软雅黑"/>
                <a:cs typeface="微软雅黑"/>
              </a:rPr>
              <a:t>待验证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0AC180C6-F002-4EE0-BD38-C0ACF89A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57400"/>
            <a:ext cx="4972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9317ADE2-04B3-4780-BC75-FCAF3F9D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00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DC2626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DC2626"/>
                </a:solidFill>
                <a:latin typeface="微软雅黑"/>
                <a:ea typeface="微软雅黑"/>
                <a:cs typeface="微软雅黑"/>
              </a:rPr>
              <a:t>○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1FA38253-046C-45EE-B01B-42AF89C6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400300"/>
            <a:ext cx="422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组内工程实际启用的包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F1BEA2E1-C0C5-4E43-ADC4-11C348F4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480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DC2626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DC2626"/>
                </a:solidFill>
                <a:latin typeface="微软雅黑"/>
                <a:ea typeface="微软雅黑"/>
                <a:cs typeface="微软雅黑"/>
              </a:rPr>
              <a:t>○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76D31FFC-108F-4D4E-98B6-152DA79C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048000"/>
            <a:ext cx="422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launch / remapping 与 Topic 类型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686EADAE-733C-43B3-88E8-A811116E4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957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DC2626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DC2626"/>
                </a:solidFill>
                <a:latin typeface="微软雅黑"/>
                <a:ea typeface="微软雅黑"/>
                <a:cs typeface="微软雅黑"/>
              </a:rPr>
              <a:t>○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A9947DAB-BC47-4A2F-801A-0270679F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695700"/>
            <a:ext cx="422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相机—LiDAR TF 和时间戳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E28AF632-139D-4178-B6D8-FAB9D597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434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DC2626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DC2626"/>
                </a:solidFill>
                <a:latin typeface="微软雅黑"/>
                <a:ea typeface="微软雅黑"/>
                <a:cs typeface="微软雅黑"/>
              </a:rPr>
              <a:t>○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C9EA2274-C963-4043-A385-4C3850280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343400"/>
            <a:ext cx="422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rosbag 中的真实数据流与输出</a:t>
            </a:r>
          </a:p>
        </p:txBody>
      </p:sp>
      <p:sp>
        <p:nvSpPr>
          <p:cNvPr id="26" name="圆角矩形 25">
            <a:extLst xmlns:a="http://schemas.openxmlformats.org/drawingml/2006/main">
              <a:ext uri="{FF2B5EF4-FFF2-40B4-BE49-F238E27FC236}">
                <a16:creationId xmlns:a16="http://schemas.microsoft.com/office/drawing/2014/main" id="{02F93FF5-2363-4E10-BB98-229C8C930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111252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AB45B82E-5C91-4254-A04E-AEDEC724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62600"/>
            <a:ext cx="1051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31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7C3AED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7C3AED"/>
                </a:solidFill>
                <a:latin typeface="微软雅黑"/>
                <a:ea typeface="微软雅黑"/>
                <a:cs typeface="微软雅黑"/>
              </a:rPr>
              <a:t>先根据接口识别数据层级，再决定融合方式。</a:t>
            </a:r>
          </a:p>
        </p:txBody>
      </p:sp>
    </p:spTree>
    <p:extLst>
      <p:ext uri="{BB962C8B-B14F-4D97-AF65-F5344CB8AC3E}">
        <p14:creationId xmlns:p14="http://schemas.microsoft.com/office/powerpoint/2010/main" val="16071918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2026-08-17T08:22:47.5850000Z</dcterms:created>
  <dcterms:modified xsi:type="dcterms:W3CDTF">2026-08-17T08:22:47.5850000Z</dcterms:modified>
</coreProperties>
</file>