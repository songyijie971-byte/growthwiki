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7c9f1f95047ee" /><Relationship Type="http://schemas.openxmlformats.org/officeDocument/2006/relationships/extended-properties" Target="/docProps/app.xml" Id="Rf7648826f5f74aff" /><Relationship Type="http://schemas.openxmlformats.org/officeDocument/2006/relationships/officeDocument" Target="/ppt/presentation.xml" Id="R5f7b831484184f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ab55829560413a"/>
  </p:sldMasterIdLst>
  <p:notesMasterIdLst>
    <p:notesMasterId xmlns:r="http://schemas.openxmlformats.org/officeDocument/2006/relationships" r:id="Ra73add0324ee452e"/>
  </p:notesMasterIdLst>
  <p:sldIdLst>
    <p:sldId xmlns:r="http://schemas.openxmlformats.org/officeDocument/2006/relationships" id="256" r:id="Rbd6e20791302486b"/>
    <p:sldId xmlns:r="http://schemas.openxmlformats.org/officeDocument/2006/relationships" id="257" r:id="Rd795b63702fb4114"/>
    <p:sldId xmlns:r="http://schemas.openxmlformats.org/officeDocument/2006/relationships" id="258" r:id="R148e6a2589274054"/>
    <p:sldId xmlns:r="http://schemas.openxmlformats.org/officeDocument/2006/relationships" id="259" r:id="R3f2b39b1b8514127"/>
    <p:sldId xmlns:r="http://schemas.openxmlformats.org/officeDocument/2006/relationships" id="260" r:id="Ra2c98e520cc3455f"/>
    <p:sldId xmlns:r="http://schemas.openxmlformats.org/officeDocument/2006/relationships" id="261" r:id="R9819fba905ab4ace"/>
    <p:sldId xmlns:r="http://schemas.openxmlformats.org/officeDocument/2006/relationships" id="262" r:id="R0bcf0986f4d44f62"/>
    <p:sldId xmlns:r="http://schemas.openxmlformats.org/officeDocument/2006/relationships" id="263" r:id="Rb150513039d448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90a37c1be4a3b" /><Relationship Type="http://schemas.openxmlformats.org/officeDocument/2006/relationships/slideMaster" Target="/ppt/slideMasters/slideMaster1.xml" Id="R34ab55829560413a" /><Relationship Type="http://schemas.openxmlformats.org/officeDocument/2006/relationships/notesMaster" Target="/ppt/notesMasters/notesMaster1.xml" Id="Ra73add0324ee452e" /><Relationship Type="http://schemas.openxmlformats.org/officeDocument/2006/relationships/presProps" Target="/ppt/presProps.xml" Id="Rbf932b037f92461c" /><Relationship Type="http://schemas.openxmlformats.org/officeDocument/2006/relationships/tableStyles" Target="/ppt/tableStyles.xml" Id="R190e87aeba9a4e3f" /><Relationship Type="http://schemas.openxmlformats.org/officeDocument/2006/relationships/slide" Target="/ppt/slides/slide1.xml" Id="Rbd6e20791302486b" /><Relationship Type="http://schemas.openxmlformats.org/officeDocument/2006/relationships/slide" Target="/ppt/slides/slide2.xml" Id="Rd795b63702fb4114" /><Relationship Type="http://schemas.openxmlformats.org/officeDocument/2006/relationships/slide" Target="/ppt/slides/slide3.xml" Id="R148e6a2589274054" /><Relationship Type="http://schemas.openxmlformats.org/officeDocument/2006/relationships/slide" Target="/ppt/slides/slide4.xml" Id="R3f2b39b1b8514127" /><Relationship Type="http://schemas.openxmlformats.org/officeDocument/2006/relationships/slide" Target="/ppt/slides/slide5.xml" Id="Ra2c98e520cc3455f" /><Relationship Type="http://schemas.openxmlformats.org/officeDocument/2006/relationships/slide" Target="/ppt/slides/slide6.xml" Id="R9819fba905ab4ace" /><Relationship Type="http://schemas.openxmlformats.org/officeDocument/2006/relationships/slide" Target="/ppt/slides/slide7.xml" Id="R0bcf0986f4d44f62" /><Relationship Type="http://schemas.openxmlformats.org/officeDocument/2006/relationships/slide" Target="/ppt/slides/slide8.xml" Id="Rb150513039d4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bfd84d7ddd4d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7d32d4d6e748b1" /><Relationship Type="http://schemas.openxmlformats.org/officeDocument/2006/relationships/notesMaster" Target="/ppt/notesMasters/notesMaster1.xml" Id="Ref4c63123f5f42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881e83b13940d8" /><Relationship Type="http://schemas.openxmlformats.org/officeDocument/2006/relationships/notesMaster" Target="/ppt/notesMasters/notesMaster1.xml" Id="R486d5944cb4c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cf6786ef8344bd" /><Relationship Type="http://schemas.openxmlformats.org/officeDocument/2006/relationships/notesMaster" Target="/ppt/notesMasters/notesMaster1.xml" Id="R2c55cfda08b542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e4341606d847bb" /><Relationship Type="http://schemas.openxmlformats.org/officeDocument/2006/relationships/notesMaster" Target="/ppt/notesMasters/notesMaster1.xml" Id="R47090979ece54b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0e0f28bcc1486a" /><Relationship Type="http://schemas.openxmlformats.org/officeDocument/2006/relationships/notesMaster" Target="/ppt/notesMasters/notesMaster1.xml" Id="Rdfdb959f38d848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0c82543c62442f" /><Relationship Type="http://schemas.openxmlformats.org/officeDocument/2006/relationships/notesMaster" Target="/ppt/notesMasters/notesMaster1.xml" Id="Rdbbd73a50b5b43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e9abfbf7ee40d9" /><Relationship Type="http://schemas.openxmlformats.org/officeDocument/2006/relationships/notesMaster" Target="/ppt/notesMasters/notesMaster1.xml" Id="R5bc0cdf100e249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05326eaba944b9" /><Relationship Type="http://schemas.openxmlformats.org/officeDocument/2006/relationships/notesMaster" Target="/ppt/notesMasters/notesMaster1.xml" Id="R048bfd4bc6ab45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开场：本次汇报先把老师给的两份材料放进 Autoware 感知架构中定位，再区分 ROI 投影融合与 label-based 聚类。明确说明目前没有把文档结论冒充实验结果。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https://autowarefoundation.github.io/autoware-documentation/main/design/autoware-architecture-v1/components/perception/image/reference-implementaion-perception-diagram.drawio.svg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先建立直觉：融合不是把两份数据简单叠加，而是让相机语义与 LiDAR 三维几何互补。这里的“雷达”按老师给的材料先理解为 LiDAR；毫米波 Radar 在架构图里是另一条支路。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https://autowarefoundation.github.io/autoware-documentation/main/design/autoware-architecture-v1/components/perception/reference_implementation/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沿图从左到右讲：LiDAR 侧先聚类，相机侧先做 2D 检测；两者在 Projection based fusion node 汇合，之后进入 map filter、tracker 和 prediction。不要把下页的 label-based 聚类强行接到这条默认链路。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https://autowarefoundation.github.io/autoware-documentation/main/design/autoware-architecture-v1/components/perception/image/reference-implementaion-perception-diagram.drawio.svg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https://autowarefoundation.github.io/autoware-documentation/main/design/autoware-architecture-v1/components/perception/reference_implementation/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按输入、几何、匹配、输出四步讲。强调“只有知道两份数据各自的坐标系，并且能从 LiDAR 坐标变到相机坐标，才知道 3D 点应该落在哪个像素上”。移动目标还要求时间尽量同步。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这页按数据字段而不是算法公式讲。只需要认出 PointCloud2 里的 x/y/z、class_id、probability，以及“按标签分桶—每类聚类—形状估计—DetectedObjects”的数据流。它本身不是相机—LiDAR 融合节点。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这是本次汇报最重要的辨析。老师给的架构图对应 Camera-LiDAR projection fusion；label-based 文档描述的是语义点云的分类内聚类。两者可以出现在同一研究主题下，但文档没有证明它们首尾相连。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https://autowarefoundation.github.io/autoware-documentation/main/design/autoware-architecture-v1/components/perception/image/reference-implementaion-perception-diagram.drawio.svg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向老师汇报当前状态时，把“已完成”和“待验证”分开。若组内能提供 rosbag、标定与 Topic/TF，8 月 4 日前补一个真实 RViz/节点输出截图；若没有，不伪造实验效果。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https://autowarefoundation.github.io/autoware-documentation/main/design/autoware-architecture-v1/components/perception/reference_implementation/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收束为三点：架构定位、ROI 投影匹配、label-based 节点边界。最后向老师确认传感器范围、数据与标定条件、以及是否要求实际运行。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https://autowarefoundation.github.io/autoware-documentation/main/design/autoware-architecture-v1/components/perception/image/reference-implementaion-perception-diagram.drawio.svg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fd7de08a64b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22648cd9954df0" /><Relationship Type="http://schemas.openxmlformats.org/officeDocument/2006/relationships/slideLayout" Target="/ppt/slideLayouts/slideLayout1.xml" Id="Rcfbb0fbf240742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bb0fbf240742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1c66da5c347c3" /><Relationship Type="http://schemas.openxmlformats.org/officeDocument/2006/relationships/notesSlide" Target="/ppt/notesSlides/notesSlide1.xml" Id="Re909e776aa614e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c692bfd1c411e" /><Relationship Type="http://schemas.openxmlformats.org/officeDocument/2006/relationships/notesSlide" Target="/ppt/notesSlides/notesSlide2.xml" Id="R8b96108dbce849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e5ed483064ad4" /><Relationship Type="http://schemas.openxmlformats.org/officeDocument/2006/relationships/image" Target="/ppt/media/image.png" Id="R0141863845644a00" /><Relationship Type="http://schemas.openxmlformats.org/officeDocument/2006/relationships/notesSlide" Target="/ppt/notesSlides/notesSlide3.xml" Id="R011008c996884e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d64243b05422d" /><Relationship Type="http://schemas.openxmlformats.org/officeDocument/2006/relationships/image" Target="/ppt/media/image2.png" Id="R9369194c5ebc4cae" /><Relationship Type="http://schemas.openxmlformats.org/officeDocument/2006/relationships/notesSlide" Target="/ppt/notesSlides/notesSlide4.xml" Id="R90fddf227d004a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2dda932634c8f" /><Relationship Type="http://schemas.openxmlformats.org/officeDocument/2006/relationships/notesSlide" Target="/ppt/notesSlides/notesSlide5.xml" Id="R9a9153c9ee5844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850392c2e4482" /><Relationship Type="http://schemas.openxmlformats.org/officeDocument/2006/relationships/notesSlide" Target="/ppt/notesSlides/notesSlide6.xml" Id="R99f4ab3fd82a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18b762c2f4b1b" /><Relationship Type="http://schemas.openxmlformats.org/officeDocument/2006/relationships/notesSlide" Target="/ppt/notesSlides/notesSlide7.xml" Id="R37cf0757819e43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d65cc03a34017" /><Relationship Type="http://schemas.openxmlformats.org/officeDocument/2006/relationships/notesSlide" Target="/ppt/notesSlides/notesSlide8.xml" Id="R9fd0a3f275bf40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95594FD-45C8-4D0B-AFB9-71EC0591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37A15AC-332B-4147-BCA9-931A65F6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D37CA8B-B14C-49F5-B335-16AB7890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962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Autoware 中的</a:t>
            </a:r>
          </a:p>
          <a:p xmlns:a="http://schemas.openxmlformats.org/drawingml/2006/main">
            <a:pPr algn="l">
              <a:defRPr sz="48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视觉—LiDAR 融合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C98EA28-D96D-4F99-8803-5C15FFEC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ROI 投影融合到语义点云聚类</a:t>
            </a:r>
          </a:p>
        </p:txBody>
      </p:sp>
      <p:sp>
        <p:nvSpPr>
          <p:cNvPr id="5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C10217BA-77CA-457E-AD5C-9E7E0D86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基于 Autoware 官方架构与模块文档｜当前为文档分析，尚未运行验证</a:t>
            </a:r>
          </a:p>
        </p:txBody>
      </p:sp>
      <p:sp>
        <p:nvSpPr>
          <p:cNvPr id="6" name="cover-camera">
            <a:extLst xmlns:a="http://schemas.openxmlformats.org/drawingml/2006/main">
              <a:ext uri="{FF2B5EF4-FFF2-40B4-BE49-F238E27FC236}">
                <a16:creationId xmlns:a16="http://schemas.microsoft.com/office/drawing/2014/main" id="{69BB6866-E2B0-4B3B-B94C-4EC7EE82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1428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284C7"/>
            </a:solidFill>
            <a:prstDash val="solid"/>
          </a:ln>
        </p:spPr>
      </p:sp>
      <p:sp>
        <p:nvSpPr>
          <p:cNvPr id="7" name="cover-camera-label">
            <a:extLst xmlns:a="http://schemas.openxmlformats.org/drawingml/2006/main">
              <a:ext uri="{FF2B5EF4-FFF2-40B4-BE49-F238E27FC236}">
                <a16:creationId xmlns:a16="http://schemas.microsoft.com/office/drawing/2014/main" id="{07D5A6E2-C0CD-4490-A116-D7E15866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193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CAMERA</a:t>
            </a:r>
          </a:p>
          <a:p xmlns:a="http://schemas.openxmlformats.org/drawingml/2006/main">
            <a:pPr algn="ctr">
              <a:defRPr sz="15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2D ROI</a:t>
            </a:r>
          </a:p>
        </p:txBody>
      </p:sp>
      <p:sp>
        <p:nvSpPr>
          <p:cNvPr id="8" name="cover-point-0">
            <a:extLst xmlns:a="http://schemas.openxmlformats.org/drawingml/2006/main">
              <a:ext uri="{FF2B5EF4-FFF2-40B4-BE49-F238E27FC236}">
                <a16:creationId xmlns:a16="http://schemas.microsoft.com/office/drawing/2014/main" id="{E9D79C92-C030-4E3C-AC18-0FC78704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9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oint-1">
            <a:extLst xmlns:a="http://schemas.openxmlformats.org/drawingml/2006/main">
              <a:ext uri="{FF2B5EF4-FFF2-40B4-BE49-F238E27FC236}">
                <a16:creationId xmlns:a16="http://schemas.microsoft.com/office/drawing/2014/main" id="{1FBD579A-6ECF-407A-AB08-04E1273E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9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point-2">
            <a:extLst xmlns:a="http://schemas.openxmlformats.org/drawingml/2006/main">
              <a:ext uri="{FF2B5EF4-FFF2-40B4-BE49-F238E27FC236}">
                <a16:creationId xmlns:a16="http://schemas.microsoft.com/office/drawing/2014/main" id="{1670FCA5-EE7F-478C-B98F-2B55C48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39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point-3">
            <a:extLst xmlns:a="http://schemas.openxmlformats.org/drawingml/2006/main">
              <a:ext uri="{FF2B5EF4-FFF2-40B4-BE49-F238E27FC236}">
                <a16:creationId xmlns:a16="http://schemas.microsoft.com/office/drawing/2014/main" id="{15F332C9-8407-45A8-BEB7-BCD2BEFC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9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point-4">
            <a:extLst xmlns:a="http://schemas.openxmlformats.org/drawingml/2006/main">
              <a:ext uri="{FF2B5EF4-FFF2-40B4-BE49-F238E27FC236}">
                <a16:creationId xmlns:a16="http://schemas.microsoft.com/office/drawing/2014/main" id="{9B2D67C1-37DC-42BB-B6FF-CE5F2BDB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point-5">
            <a:extLst xmlns:a="http://schemas.openxmlformats.org/drawingml/2006/main">
              <a:ext uri="{FF2B5EF4-FFF2-40B4-BE49-F238E27FC236}">
                <a16:creationId xmlns:a16="http://schemas.microsoft.com/office/drawing/2014/main" id="{383869A9-6D4A-472D-8D4F-BF5D5FCA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point-6">
            <a:extLst xmlns:a="http://schemas.openxmlformats.org/drawingml/2006/main">
              <a:ext uri="{FF2B5EF4-FFF2-40B4-BE49-F238E27FC236}">
                <a16:creationId xmlns:a16="http://schemas.microsoft.com/office/drawing/2014/main" id="{136D3153-DE13-406D-B2B0-9976F46D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point-7">
            <a:extLst xmlns:a="http://schemas.openxmlformats.org/drawingml/2006/main">
              <a:ext uri="{FF2B5EF4-FFF2-40B4-BE49-F238E27FC236}">
                <a16:creationId xmlns:a16="http://schemas.microsoft.com/office/drawing/2014/main" id="{D763E530-039B-40D9-8E25-9F52E753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ver-lidar-label">
            <a:extLst xmlns:a="http://schemas.openxmlformats.org/drawingml/2006/main">
              <a:ext uri="{FF2B5EF4-FFF2-40B4-BE49-F238E27FC236}">
                <a16:creationId xmlns:a16="http://schemas.microsoft.com/office/drawing/2014/main" id="{CD43136A-2335-46A3-8A0E-9A5A50F3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19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LiDAR · 3D</a:t>
            </a:r>
          </a:p>
        </p:txBody>
      </p:sp>
    </p:spTree>
    <p:extLst>
      <p:ext uri="{BB962C8B-B14F-4D97-AF65-F5344CB8AC3E}">
        <p14:creationId xmlns:p14="http://schemas.microsoft.com/office/powerpoint/2010/main" val="1467895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2">
            <a:extLst xmlns:a="http://schemas.openxmlformats.org/drawingml/2006/main">
              <a:ext uri="{FF2B5EF4-FFF2-40B4-BE49-F238E27FC236}">
                <a16:creationId xmlns:a16="http://schemas.microsoft.com/office/drawing/2014/main" id="{04DFD719-7DCA-42CF-8685-D79ADD4D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为什么要把相机与 LiDAR 放在一起？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6885B843-C747-4733-923A-949EBA8F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s2-subtitle">
            <a:extLst xmlns:a="http://schemas.openxmlformats.org/drawingml/2006/main">
              <a:ext uri="{FF2B5EF4-FFF2-40B4-BE49-F238E27FC236}">
                <a16:creationId xmlns:a16="http://schemas.microsoft.com/office/drawing/2014/main" id="{FAC0EAE0-9875-4186-BCEC-EBBD8FA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两类传感器看到的是同一个世界，但擅长回答的问题不同。</a:t>
            </a:r>
          </a:p>
        </p:txBody>
      </p:sp>
      <p:sp>
        <p:nvSpPr>
          <p:cNvPr id="4" name="s2-card-0">
            <a:extLst xmlns:a="http://schemas.openxmlformats.org/drawingml/2006/main">
              <a:ext uri="{FF2B5EF4-FFF2-40B4-BE49-F238E27FC236}">
                <a16:creationId xmlns:a16="http://schemas.microsoft.com/office/drawing/2014/main" id="{D9C70113-2339-44C2-91DC-5ABB211C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571875" cy="36671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2-accent-0">
            <a:extLst xmlns:a="http://schemas.openxmlformats.org/drawingml/2006/main">
              <a:ext uri="{FF2B5EF4-FFF2-40B4-BE49-F238E27FC236}">
                <a16:creationId xmlns:a16="http://schemas.microsoft.com/office/drawing/2014/main" id="{EA5B96D9-3F81-4D8E-8705-F3E6E27F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label-0-bg">
            <a:extLst xmlns:a="http://schemas.openxmlformats.org/drawingml/2006/main">
              <a:ext uri="{FF2B5EF4-FFF2-40B4-BE49-F238E27FC236}">
                <a16:creationId xmlns:a16="http://schemas.microsoft.com/office/drawing/2014/main" id="{A7AD2D98-D209-471F-94BF-2B1F71F1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7" name="s2-label-0-text">
            <a:extLst xmlns:a="http://schemas.openxmlformats.org/drawingml/2006/main">
              <a:ext uri="{FF2B5EF4-FFF2-40B4-BE49-F238E27FC236}">
                <a16:creationId xmlns:a16="http://schemas.microsoft.com/office/drawing/2014/main" id="{CCAE0454-8842-422B-BCCA-5044099E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CAMERA</a:t>
            </a:r>
          </a:p>
        </p:txBody>
      </p:sp>
      <p:sp>
        <p:nvSpPr>
          <p:cNvPr id="8" name="s2-title-0">
            <a:extLst xmlns:a="http://schemas.openxmlformats.org/drawingml/2006/main">
              <a:ext uri="{FF2B5EF4-FFF2-40B4-BE49-F238E27FC236}">
                <a16:creationId xmlns:a16="http://schemas.microsoft.com/office/drawing/2014/main" id="{FF92A356-66E8-4F93-BE95-8EB2362B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相机：语义与纹理</a:t>
            </a:r>
          </a:p>
        </p:txBody>
      </p:sp>
      <p:sp>
        <p:nvSpPr>
          <p:cNvPr id="9" name="s2-body-0">
            <a:extLst xmlns:a="http://schemas.openxmlformats.org/drawingml/2006/main">
              <a:ext uri="{FF2B5EF4-FFF2-40B4-BE49-F238E27FC236}">
                <a16:creationId xmlns:a16="http://schemas.microsoft.com/office/drawing/2014/main" id="{91BB8CB7-EBE3-459F-A840-E9D8F673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3048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擅长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车辆、行人等类别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颜色、标志与纹理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单目深度与尺度不稳定</a:t>
            </a:r>
          </a:p>
        </p:txBody>
      </p:sp>
      <p:sp>
        <p:nvSpPr>
          <p:cNvPr id="10" name="s2-card-1">
            <a:extLst xmlns:a="http://schemas.openxmlformats.org/drawingml/2006/main">
              <a:ext uri="{FF2B5EF4-FFF2-40B4-BE49-F238E27FC236}">
                <a16:creationId xmlns:a16="http://schemas.microsoft.com/office/drawing/2014/main" id="{F88BAA42-DF4C-434C-971E-6205EB26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43125"/>
            <a:ext cx="3571875" cy="36671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s2-accent-1">
            <a:extLst xmlns:a="http://schemas.openxmlformats.org/drawingml/2006/main">
              <a:ext uri="{FF2B5EF4-FFF2-40B4-BE49-F238E27FC236}">
                <a16:creationId xmlns:a16="http://schemas.microsoft.com/office/drawing/2014/main" id="{A7734A40-4B7A-4D46-933E-545F9A81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4312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-label-1-bg">
            <a:extLst xmlns:a="http://schemas.openxmlformats.org/drawingml/2006/main">
              <a:ext uri="{FF2B5EF4-FFF2-40B4-BE49-F238E27FC236}">
                <a16:creationId xmlns:a16="http://schemas.microsoft.com/office/drawing/2014/main" id="{3CDB6FF5-AE75-46B7-AC7D-7A815B1F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28875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3" name="s2-label-1-text">
            <a:extLst xmlns:a="http://schemas.openxmlformats.org/drawingml/2006/main">
              <a:ext uri="{FF2B5EF4-FFF2-40B4-BE49-F238E27FC236}">
                <a16:creationId xmlns:a16="http://schemas.microsoft.com/office/drawing/2014/main" id="{24ED49EE-2DA3-42D7-B0AE-7C0749BF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288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LiDAR</a:t>
            </a:r>
          </a:p>
        </p:txBody>
      </p:sp>
      <p:sp>
        <p:nvSpPr>
          <p:cNvPr id="14" name="s2-title-1">
            <a:extLst xmlns:a="http://schemas.openxmlformats.org/drawingml/2006/main">
              <a:ext uri="{FF2B5EF4-FFF2-40B4-BE49-F238E27FC236}">
                <a16:creationId xmlns:a16="http://schemas.microsoft.com/office/drawing/2014/main" id="{1DB6A148-F853-4210-B89A-B3809FAC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03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LiDAR：3D 几何</a:t>
            </a:r>
          </a:p>
        </p:txBody>
      </p:sp>
      <p:sp>
        <p:nvSpPr>
          <p:cNvPr id="15" name="s2-body-1">
            <a:extLst xmlns:a="http://schemas.openxmlformats.org/drawingml/2006/main">
              <a:ext uri="{FF2B5EF4-FFF2-40B4-BE49-F238E27FC236}">
                <a16:creationId xmlns:a16="http://schemas.microsoft.com/office/drawing/2014/main" id="{C23648B0-90EC-49EF-85C1-D506FF4A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38550"/>
            <a:ext cx="3048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擅长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距离、位置与轮廓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直接形成三维点云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点云稀疏，类别信息弱</a:t>
            </a:r>
          </a:p>
        </p:txBody>
      </p:sp>
      <p:sp>
        <p:nvSpPr>
          <p:cNvPr id="16" name="s2-card-2">
            <a:extLst xmlns:a="http://schemas.openxmlformats.org/drawingml/2006/main">
              <a:ext uri="{FF2B5EF4-FFF2-40B4-BE49-F238E27FC236}">
                <a16:creationId xmlns:a16="http://schemas.microsoft.com/office/drawing/2014/main" id="{71095F04-292F-42CA-B1CF-D852B507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3571875" cy="36671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2-accent-2">
            <a:extLst xmlns:a="http://schemas.openxmlformats.org/drawingml/2006/main">
              <a:ext uri="{FF2B5EF4-FFF2-40B4-BE49-F238E27FC236}">
                <a16:creationId xmlns:a16="http://schemas.microsoft.com/office/drawing/2014/main" id="{2F054B69-4242-4ABC-9DC4-1CF27D0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-label-2-bg">
            <a:extLst xmlns:a="http://schemas.openxmlformats.org/drawingml/2006/main">
              <a:ext uri="{FF2B5EF4-FFF2-40B4-BE49-F238E27FC236}">
                <a16:creationId xmlns:a16="http://schemas.microsoft.com/office/drawing/2014/main" id="{188685A9-F565-4D54-BE5B-F00C68B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EDE9FE"/>
            </a:solidFill>
            <a:prstDash val="solid"/>
          </a:ln>
        </p:spPr>
      </p:sp>
      <p:sp>
        <p:nvSpPr>
          <p:cNvPr id="19" name="s2-label-2-text">
            <a:extLst xmlns:a="http://schemas.openxmlformats.org/drawingml/2006/main">
              <a:ext uri="{FF2B5EF4-FFF2-40B4-BE49-F238E27FC236}">
                <a16:creationId xmlns:a16="http://schemas.microsoft.com/office/drawing/2014/main" id="{4432C27B-C477-439D-8B25-699C33D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FUSION</a:t>
            </a:r>
          </a:p>
        </p:txBody>
      </p:sp>
      <p:sp>
        <p:nvSpPr>
          <p:cNvPr id="20" name="s2-title-2">
            <a:extLst xmlns:a="http://schemas.openxmlformats.org/drawingml/2006/main">
              <a:ext uri="{FF2B5EF4-FFF2-40B4-BE49-F238E27FC236}">
                <a16:creationId xmlns:a16="http://schemas.microsoft.com/office/drawing/2014/main" id="{80232F55-5C4F-4A08-905C-F8D5F15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融合：同一个目标</a:t>
            </a:r>
          </a:p>
        </p:txBody>
      </p:sp>
      <p:sp>
        <p:nvSpPr>
          <p:cNvPr id="21" name="s2-body-2">
            <a:extLst xmlns:a="http://schemas.openxmlformats.org/drawingml/2006/main">
              <a:ext uri="{FF2B5EF4-FFF2-40B4-BE49-F238E27FC236}">
                <a16:creationId xmlns:a16="http://schemas.microsoft.com/office/drawing/2014/main" id="{6A3154F9-32D1-4C99-BDF5-6BD0581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3048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相机回答“是什么”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LiDAR 回答“在哪里、多大”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融合节点回答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“是不是同一个目标”</a:t>
            </a:r>
          </a:p>
        </p:txBody>
      </p:sp>
    </p:spTree>
    <p:extLst>
      <p:ext uri="{BB962C8B-B14F-4D97-AF65-F5344CB8AC3E}">
        <p14:creationId xmlns:p14="http://schemas.microsoft.com/office/powerpoint/2010/main" val="807628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">
            <a:extLst xmlns:a="http://schemas.openxmlformats.org/drawingml/2006/main">
              <a:ext uri="{FF2B5EF4-FFF2-40B4-BE49-F238E27FC236}">
                <a16:creationId xmlns:a16="http://schemas.microsoft.com/office/drawing/2014/main" id="{54A05208-9C15-45E4-A5E8-36DE0C19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Autoware 中：两条支路在投影融合节点汇合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3A126704-708B-4DDD-9A48-3FA03CA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s3-left-card">
            <a:extLst xmlns:a="http://schemas.openxmlformats.org/drawingml/2006/main">
              <a:ext uri="{FF2B5EF4-FFF2-40B4-BE49-F238E27FC236}">
                <a16:creationId xmlns:a16="http://schemas.microsoft.com/office/drawing/2014/main" id="{C9688C23-868B-4C92-9F6E-6220496B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095750" cy="4476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s3-tag-bg">
            <a:extLst xmlns:a="http://schemas.openxmlformats.org/drawingml/2006/main">
              <a:ext uri="{FF2B5EF4-FFF2-40B4-BE49-F238E27FC236}">
                <a16:creationId xmlns:a16="http://schemas.microsoft.com/office/drawing/2014/main" id="{237BE099-9780-41E4-A971-E9E4407C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5" name="s3-tag-text">
            <a:extLst xmlns:a="http://schemas.openxmlformats.org/drawingml/2006/main">
              <a:ext uri="{FF2B5EF4-FFF2-40B4-BE49-F238E27FC236}">
                <a16:creationId xmlns:a16="http://schemas.microsoft.com/office/drawing/2014/main" id="{92050EF9-80CE-43EC-8055-AFC25F59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3822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REFERENCE ARCHITECTURE</a:t>
            </a:r>
          </a:p>
        </p:txBody>
      </p:sp>
      <p:sp>
        <p:nvSpPr>
          <p:cNvPr id="6" name="s3-main">
            <a:extLst xmlns:a="http://schemas.openxmlformats.org/drawingml/2006/main">
              <a:ext uri="{FF2B5EF4-FFF2-40B4-BE49-F238E27FC236}">
                <a16:creationId xmlns:a16="http://schemas.microsoft.com/office/drawing/2014/main" id="{2B2E8EB6-F81A-47C7-A276-DC8758BD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42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Camera DNN</a:t>
            </a:r>
          </a:p>
          <a:p xmlns:a="http://schemas.openxmlformats.org/drawingml/2006/main">
            <a:pPr algn="l">
              <a:defRPr sz="2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2D ROI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LiDAR clustering</a:t>
            </a:r>
          </a:p>
          <a:p xmlns:a="http://schemas.openxmlformats.org/drawingml/2006/main">
            <a:pPr algn="l">
              <a:defRPr sz="2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3D cluster</a:t>
            </a:r>
          </a:p>
        </p:txBody>
      </p:sp>
      <p:sp>
        <p:nvSpPr>
          <p:cNvPr id="7" name="s3-takeaway-bg">
            <a:extLst xmlns:a="http://schemas.openxmlformats.org/drawingml/2006/main">
              <a:ext uri="{FF2B5EF4-FFF2-40B4-BE49-F238E27FC236}">
                <a16:creationId xmlns:a16="http://schemas.microsoft.com/office/drawing/2014/main" id="{BD9DB389-5C77-474A-8829-23D84DC4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34290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EDE9FE"/>
            </a:solidFill>
            <a:prstDash val="solid"/>
          </a:ln>
        </p:spPr>
      </p:sp>
      <p:sp>
        <p:nvSpPr>
          <p:cNvPr id="8" name="s3-takeaway">
            <a:extLst xmlns:a="http://schemas.openxmlformats.org/drawingml/2006/main">
              <a:ext uri="{FF2B5EF4-FFF2-40B4-BE49-F238E27FC236}">
                <a16:creationId xmlns:a16="http://schemas.microsoft.com/office/drawing/2014/main" id="{B35F96A5-B7D6-4F14-83C5-CF7191F9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Projection based fusion node</a:t>
            </a:r>
          </a:p>
          <a:p xmlns:a="http://schemas.openxmlformats.org/drawingml/2006/main">
            <a:pPr algn="l">
              <a:def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把两边关联成带类别的 3D 目标</a:t>
            </a:r>
          </a:p>
        </p:txBody>
      </p:sp>
      <p:sp>
        <p:nvSpPr>
          <p:cNvPr id="9" name="s3-image-backing">
            <a:extLst xmlns:a="http://schemas.openxmlformats.org/drawingml/2006/main">
              <a:ext uri="{FF2B5EF4-FFF2-40B4-BE49-F238E27FC236}">
                <a16:creationId xmlns:a16="http://schemas.microsoft.com/office/drawing/2014/main" id="{A46E6EF9-200A-48D9-9757-7899385B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81125"/>
            <a:ext cx="70104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1863845644a00"/>
          <a:stretch xmlns:a="http://schemas.openxmlformats.org/drawingml/2006/main"/>
        </p:blipFill>
        <p:spPr>
          <a:xfrm xmlns:a="http://schemas.openxmlformats.org/drawingml/2006/main">
            <a:off x="4972050" y="1762125"/>
            <a:ext cx="6629400" cy="3581400"/>
          </a:xfrm>
          <a:prstGeom xmlns:a="http://schemas.openxmlformats.org/drawingml/2006/main" prst="roundRect">
            <a:avLst>
              <a:gd name="adj" fmla="val 3980"/>
            </a:avLst>
          </a:prstGeom>
        </p:spPr>
      </p:pic>
      <p:sp>
        <p:nvSpPr>
          <p:cNvPr id="11" name="s3-caption">
            <a:extLst xmlns:a="http://schemas.openxmlformats.org/drawingml/2006/main">
              <a:ext uri="{FF2B5EF4-FFF2-40B4-BE49-F238E27FC236}">
                <a16:creationId xmlns:a16="http://schemas.microsoft.com/office/drawing/2014/main" id="{AA696786-1A35-40ED-973F-49F6A91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官方参考架构局部：LiDAR clustering → Projection based fusion node ← Camera DNN based 2D detector</a:t>
            </a:r>
          </a:p>
        </p:txBody>
      </p:sp>
    </p:spTree>
    <p:extLst>
      <p:ext uri="{BB962C8B-B14F-4D97-AF65-F5344CB8AC3E}">
        <p14:creationId xmlns:p14="http://schemas.microsoft.com/office/powerpoint/2010/main" val="53511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4">
            <a:extLst xmlns:a="http://schemas.openxmlformats.org/drawingml/2006/main">
              <a:ext uri="{FF2B5EF4-FFF2-40B4-BE49-F238E27FC236}">
                <a16:creationId xmlns:a16="http://schemas.microsoft.com/office/drawing/2014/main" id="{4DDA0003-C930-45A2-9E71-F538685B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PROJECTION-BASED FUSION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C412609-4A5D-4470-A631-6DE9A263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cluster fusion：把 3D 点簇投到 2D 图像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2DABDA69-322C-453B-9508-A933915B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s4-image-card">
            <a:extLst xmlns:a="http://schemas.openxmlformats.org/drawingml/2006/main">
              <a:ext uri="{FF2B5EF4-FFF2-40B4-BE49-F238E27FC236}">
                <a16:creationId xmlns:a16="http://schemas.microsoft.com/office/drawing/2014/main" id="{4898588F-C015-40C8-BB57-F8E292C5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9055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9194c5ebc4cae"/>
          <a:stretch xmlns:a="http://schemas.openxmlformats.org/drawingml/2006/main"/>
        </p:blipFill>
        <p:spPr>
          <a:xfrm xmlns:a="http://schemas.openxmlformats.org/drawingml/2006/main">
            <a:off x="892104" y="1657350"/>
            <a:ext cx="4921393" cy="3162300"/>
          </a:xfrm>
          <a:prstGeom xmlns:a="http://schemas.openxmlformats.org/drawingml/2006/main" prst="roundRect">
            <a:avLst>
              <a:gd name="adj" fmla="val 4217"/>
            </a:avLst>
          </a:prstGeom>
        </p:spPr>
      </p:pic>
      <p:sp>
        <p:nvSpPr>
          <p:cNvPr id="6" name="s4-caption">
            <a:extLst xmlns:a="http://schemas.openxmlformats.org/drawingml/2006/main">
              <a:ext uri="{FF2B5EF4-FFF2-40B4-BE49-F238E27FC236}">
                <a16:creationId xmlns:a16="http://schemas.microsoft.com/office/drawing/2014/main" id="{9DD7DB8D-6D7C-40A0-8065-EE3E9680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537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核心判断：点云簇投影框与相机 ROI 的 IoU 是否足够大</a:t>
            </a:r>
          </a:p>
        </p:txBody>
      </p:sp>
      <p:sp>
        <p:nvSpPr>
          <p:cNvPr id="7" name="s4-step-1-dot">
            <a:extLst xmlns:a="http://schemas.openxmlformats.org/drawingml/2006/main">
              <a:ext uri="{FF2B5EF4-FFF2-40B4-BE49-F238E27FC236}">
                <a16:creationId xmlns:a16="http://schemas.microsoft.com/office/drawing/2014/main" id="{10203898-274E-4E83-9C57-BC27464E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step-1-num">
            <a:extLst xmlns:a="http://schemas.openxmlformats.org/drawingml/2006/main">
              <a:ext uri="{FF2B5EF4-FFF2-40B4-BE49-F238E27FC236}">
                <a16:creationId xmlns:a16="http://schemas.microsoft.com/office/drawing/2014/main" id="{551C8F91-2308-4AA9-A19F-BBF939CB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s4-step-1-title">
            <a:extLst xmlns:a="http://schemas.openxmlformats.org/drawingml/2006/main">
              <a:ext uri="{FF2B5EF4-FFF2-40B4-BE49-F238E27FC236}">
                <a16:creationId xmlns:a16="http://schemas.microsoft.com/office/drawing/2014/main" id="{FA7866E6-0B42-45C4-81B1-399172C8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097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s4-step-1-body">
            <a:extLst xmlns:a="http://schemas.openxmlformats.org/drawingml/2006/main">
              <a:ext uri="{FF2B5EF4-FFF2-40B4-BE49-F238E27FC236}">
                <a16:creationId xmlns:a16="http://schemas.microsoft.com/office/drawing/2014/main" id="{2A402B7C-9150-488F-9AC6-58F6D9D9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335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3D cluster + 2D ROI + CameraInfo</a:t>
            </a:r>
          </a:p>
        </p:txBody>
      </p:sp>
      <p:sp>
        <p:nvSpPr>
          <p:cNvPr id="11" name="s4-step-2-dot">
            <a:extLst xmlns:a="http://schemas.openxmlformats.org/drawingml/2006/main">
              <a:ext uri="{FF2B5EF4-FFF2-40B4-BE49-F238E27FC236}">
                <a16:creationId xmlns:a16="http://schemas.microsoft.com/office/drawing/2014/main" id="{F1405A66-37C1-45CA-AFC5-8A299AF5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4-step-2-num">
            <a:extLst xmlns:a="http://schemas.openxmlformats.org/drawingml/2006/main">
              <a:ext uri="{FF2B5EF4-FFF2-40B4-BE49-F238E27FC236}">
                <a16:creationId xmlns:a16="http://schemas.microsoft.com/office/drawing/2014/main" id="{3C068328-F04D-4B7A-A24F-B1F74210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s4-step-2-title">
            <a:extLst xmlns:a="http://schemas.openxmlformats.org/drawingml/2006/main">
              <a:ext uri="{FF2B5EF4-FFF2-40B4-BE49-F238E27FC236}">
                <a16:creationId xmlns:a16="http://schemas.microsoft.com/office/drawing/2014/main" id="{A0F1A18C-B2A2-449E-9A16-DDCEC5A9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几何</a:t>
            </a:r>
          </a:p>
        </p:txBody>
      </p:sp>
      <p:sp>
        <p:nvSpPr>
          <p:cNvPr id="14" name="s4-step-2-body">
            <a:extLst xmlns:a="http://schemas.openxmlformats.org/drawingml/2006/main">
              <a:ext uri="{FF2B5EF4-FFF2-40B4-BE49-F238E27FC236}">
                <a16:creationId xmlns:a16="http://schemas.microsoft.com/office/drawing/2014/main" id="{8FE412C0-D20A-400B-8414-0B826EDD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TF 外参做坐标转换；相机内参投到像素</a:t>
            </a:r>
          </a:p>
        </p:txBody>
      </p:sp>
      <p:sp>
        <p:nvSpPr>
          <p:cNvPr id="15" name="s4-step-3-dot">
            <a:extLst xmlns:a="http://schemas.openxmlformats.org/drawingml/2006/main">
              <a:ext uri="{FF2B5EF4-FFF2-40B4-BE49-F238E27FC236}">
                <a16:creationId xmlns:a16="http://schemas.microsoft.com/office/drawing/2014/main" id="{F803F292-67C1-4141-B5DB-C72D65A1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step-3-num">
            <a:extLst xmlns:a="http://schemas.openxmlformats.org/drawingml/2006/main">
              <a:ext uri="{FF2B5EF4-FFF2-40B4-BE49-F238E27FC236}">
                <a16:creationId xmlns:a16="http://schemas.microsoft.com/office/drawing/2014/main" id="{B1E199F8-2344-445F-BB8F-42B12477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s4-step-3-title">
            <a:extLst xmlns:a="http://schemas.openxmlformats.org/drawingml/2006/main">
              <a:ext uri="{FF2B5EF4-FFF2-40B4-BE49-F238E27FC236}">
                <a16:creationId xmlns:a16="http://schemas.microsoft.com/office/drawing/2014/main" id="{93552ADD-AA22-4C0E-B9BB-8FBFE1CA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18" name="s4-step-3-body">
            <a:extLst xmlns:a="http://schemas.openxmlformats.org/drawingml/2006/main">
              <a:ext uri="{FF2B5EF4-FFF2-40B4-BE49-F238E27FC236}">
                <a16:creationId xmlns:a16="http://schemas.microsoft.com/office/drawing/2014/main" id="{33701E5C-F753-49F1-97F0-7F496BB6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计算投影框与检测框的 IoU</a:t>
            </a:r>
          </a:p>
        </p:txBody>
      </p:sp>
      <p:sp>
        <p:nvSpPr>
          <p:cNvPr id="19" name="s4-step-4-dot">
            <a:extLst xmlns:a="http://schemas.openxmlformats.org/drawingml/2006/main">
              <a:ext uri="{FF2B5EF4-FFF2-40B4-BE49-F238E27FC236}">
                <a16:creationId xmlns:a16="http://schemas.microsoft.com/office/drawing/2014/main" id="{E1D53D9D-2433-4A77-88A8-3C59D0CC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4-step-4-num">
            <a:extLst xmlns:a="http://schemas.openxmlformats.org/drawingml/2006/main">
              <a:ext uri="{FF2B5EF4-FFF2-40B4-BE49-F238E27FC236}">
                <a16:creationId xmlns:a16="http://schemas.microsoft.com/office/drawing/2014/main" id="{EE7C8897-1CCA-480E-A431-4907B6D3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s4-step-4-title">
            <a:extLst xmlns:a="http://schemas.openxmlformats.org/drawingml/2006/main">
              <a:ext uri="{FF2B5EF4-FFF2-40B4-BE49-F238E27FC236}">
                <a16:creationId xmlns:a16="http://schemas.microsoft.com/office/drawing/2014/main" id="{6862E7B3-F0DC-49BD-A914-C499E26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100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s4-step-4-body">
            <a:extLst xmlns:a="http://schemas.openxmlformats.org/drawingml/2006/main">
              <a:ext uri="{FF2B5EF4-FFF2-40B4-BE49-F238E27FC236}">
                <a16:creationId xmlns:a16="http://schemas.microsoft.com/office/drawing/2014/main" id="{CD54D687-56B3-4A1A-A966-11B3E725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339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用相机类别覆盖 3D cluster 的类别标签</a:t>
            </a:r>
          </a:p>
        </p:txBody>
      </p:sp>
      <p:sp>
        <p:nvSpPr>
          <p:cNvPr id="23" name="s4-risk-bg">
            <a:extLst xmlns:a="http://schemas.openxmlformats.org/drawingml/2006/main">
              <a:ext uri="{FF2B5EF4-FFF2-40B4-BE49-F238E27FC236}">
                <a16:creationId xmlns:a16="http://schemas.microsoft.com/office/drawing/2014/main" id="{A51F9F67-B57C-44D9-B4FD-DC67ADB3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24" name="s4-risk">
            <a:extLst xmlns:a="http://schemas.openxmlformats.org/drawingml/2006/main">
              <a:ext uri="{FF2B5EF4-FFF2-40B4-BE49-F238E27FC236}">
                <a16:creationId xmlns:a16="http://schemas.microsoft.com/office/drawing/2014/main" id="{63559B43-757D-4CF1-B445-52C27B15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最容易出错的三件事：外参/TF 偏差　｜　CameraInfo 内参错误　｜　图像与点云时间不同步</a:t>
            </a:r>
          </a:p>
        </p:txBody>
      </p:sp>
    </p:spTree>
    <p:extLst>
      <p:ext uri="{BB962C8B-B14F-4D97-AF65-F5344CB8AC3E}">
        <p14:creationId xmlns:p14="http://schemas.microsoft.com/office/powerpoint/2010/main" val="15591971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5">
            <a:extLst xmlns:a="http://schemas.openxmlformats.org/drawingml/2006/main">
              <a:ext uri="{FF2B5EF4-FFF2-40B4-BE49-F238E27FC236}">
                <a16:creationId xmlns:a16="http://schemas.microsoft.com/office/drawing/2014/main" id="{9281CFE9-F2A2-43D9-8B5F-6468C7C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SEMANTIC POINT CLOUD CLUSTERING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FDF1EC6-F86C-4E26-ABA8-2BC80521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Euclidean Cluster：语义点云 → 3D 目标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7829DDDE-C1F5-4B59-BBE2-9036D7C4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s5-subtitle">
            <a:extLst xmlns:a="http://schemas.openxmlformats.org/drawingml/2006/main">
              <a:ext uri="{FF2B5EF4-FFF2-40B4-BE49-F238E27FC236}">
                <a16:creationId xmlns:a16="http://schemas.microsoft.com/office/drawing/2014/main" id="{82225AC4-C768-4FEC-BCD3-376096EC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这个节点只订阅一份 PointCloud2；相机图像、CameraInfo 和 2D ROI 都不是它的直接输入。</a:t>
            </a:r>
          </a:p>
        </p:txBody>
      </p:sp>
      <p:sp>
        <p:nvSpPr>
          <p:cNvPr id="5" name="s5-arrow-0">
            <a:extLst xmlns:a="http://schemas.openxmlformats.org/drawingml/2006/main">
              <a:ext uri="{FF2B5EF4-FFF2-40B4-BE49-F238E27FC236}">
                <a16:creationId xmlns:a16="http://schemas.microsoft.com/office/drawing/2014/main" id="{1B70CC77-8188-4342-BE06-BB9D820F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arrow-1">
            <a:extLst xmlns:a="http://schemas.openxmlformats.org/drawingml/2006/main">
              <a:ext uri="{FF2B5EF4-FFF2-40B4-BE49-F238E27FC236}">
                <a16:creationId xmlns:a16="http://schemas.microsoft.com/office/drawing/2014/main" id="{7BAE8651-2B26-49F8-AF9D-63696591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arrow-2">
            <a:extLst xmlns:a="http://schemas.openxmlformats.org/drawingml/2006/main">
              <a:ext uri="{FF2B5EF4-FFF2-40B4-BE49-F238E27FC236}">
                <a16:creationId xmlns:a16="http://schemas.microsoft.com/office/drawing/2014/main" id="{F08EAE84-0492-4187-834E-A41105F5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5-arrow-3">
            <a:extLst xmlns:a="http://schemas.openxmlformats.org/drawingml/2006/main">
              <a:ext uri="{FF2B5EF4-FFF2-40B4-BE49-F238E27FC236}">
                <a16:creationId xmlns:a16="http://schemas.microsoft.com/office/drawing/2014/main" id="{30C34F24-F6A9-469D-9D7E-1B036FB9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5-card-0">
            <a:extLst xmlns:a="http://schemas.openxmlformats.org/drawingml/2006/main">
              <a:ext uri="{FF2B5EF4-FFF2-40B4-BE49-F238E27FC236}">
                <a16:creationId xmlns:a16="http://schemas.microsoft.com/office/drawing/2014/main" id="{5C9F36C7-CC0B-4A16-84F7-2C1F47EE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885950" cy="3143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F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5-top-0">
            <a:extLst xmlns:a="http://schemas.openxmlformats.org/drawingml/2006/main">
              <a:ext uri="{FF2B5EF4-FFF2-40B4-BE49-F238E27FC236}">
                <a16:creationId xmlns:a16="http://schemas.microsoft.com/office/drawing/2014/main" id="{5C39A213-B65C-48B0-8D02-125C3173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num-0">
            <a:extLst xmlns:a="http://schemas.openxmlformats.org/drawingml/2006/main">
              <a:ext uri="{FF2B5EF4-FFF2-40B4-BE49-F238E27FC236}">
                <a16:creationId xmlns:a16="http://schemas.microsoft.com/office/drawing/2014/main" id="{48000D0E-3BF2-408A-A8B5-E27AA9A2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s5-title-0">
            <a:extLst xmlns:a="http://schemas.openxmlformats.org/drawingml/2006/main">
              <a:ext uri="{FF2B5EF4-FFF2-40B4-BE49-F238E27FC236}">
                <a16:creationId xmlns:a16="http://schemas.microsoft.com/office/drawing/2014/main" id="{14086258-812B-4823-A6CF-8705AFA7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输入点云</a:t>
            </a:r>
          </a:p>
        </p:txBody>
      </p:sp>
      <p:sp>
        <p:nvSpPr>
          <p:cNvPr id="13" name="s5-body-0">
            <a:extLst xmlns:a="http://schemas.openxmlformats.org/drawingml/2006/main">
              <a:ext uri="{FF2B5EF4-FFF2-40B4-BE49-F238E27FC236}">
                <a16:creationId xmlns:a16="http://schemas.microsoft.com/office/drawing/2014/main" id="{ECBC27C7-2925-4FBA-B5E7-9DE22AEE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504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必须：x / y / z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可选：class_id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　　　probability</a:t>
            </a:r>
          </a:p>
        </p:txBody>
      </p:sp>
      <p:sp>
        <p:nvSpPr>
          <p:cNvPr id="14" name="s5-card-1">
            <a:extLst xmlns:a="http://schemas.openxmlformats.org/drawingml/2006/main">
              <a:ext uri="{FF2B5EF4-FFF2-40B4-BE49-F238E27FC236}">
                <a16:creationId xmlns:a16="http://schemas.microsoft.com/office/drawing/2014/main" id="{8412D53B-9353-412F-9900-79F7BB4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52625"/>
            <a:ext cx="1885950" cy="3143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5-top-1">
            <a:extLst xmlns:a="http://schemas.openxmlformats.org/drawingml/2006/main">
              <a:ext uri="{FF2B5EF4-FFF2-40B4-BE49-F238E27FC236}">
                <a16:creationId xmlns:a16="http://schemas.microsoft.com/office/drawing/2014/main" id="{AC320C4C-4ADA-477A-A446-ACFF7562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52625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5-num-1">
            <a:extLst xmlns:a="http://schemas.openxmlformats.org/drawingml/2006/main">
              <a:ext uri="{FF2B5EF4-FFF2-40B4-BE49-F238E27FC236}">
                <a16:creationId xmlns:a16="http://schemas.microsoft.com/office/drawing/2014/main" id="{BF995C27-C532-4F8A-BBF9-15C5990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s5-title-1">
            <a:extLst xmlns:a="http://schemas.openxmlformats.org/drawingml/2006/main">
              <a:ext uri="{FF2B5EF4-FFF2-40B4-BE49-F238E27FC236}">
                <a16:creationId xmlns:a16="http://schemas.microsoft.com/office/drawing/2014/main" id="{A9833504-AAB6-4449-8661-EA30E7E2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置信度过滤</a:t>
            </a:r>
          </a:p>
        </p:txBody>
      </p:sp>
      <p:sp>
        <p:nvSpPr>
          <p:cNvPr id="18" name="s5-body-1">
            <a:extLst xmlns:a="http://schemas.openxmlformats.org/drawingml/2006/main">
              <a:ext uri="{FF2B5EF4-FFF2-40B4-BE49-F238E27FC236}">
                <a16:creationId xmlns:a16="http://schemas.microsoft.com/office/drawing/2014/main" id="{7B37B0E7-DBDB-4DB6-928D-D7DF38DC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76625"/>
            <a:ext cx="1504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低于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min_probability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的语义点被过滤</a:t>
            </a:r>
          </a:p>
        </p:txBody>
      </p:sp>
      <p:sp>
        <p:nvSpPr>
          <p:cNvPr id="19" name="s5-card-2">
            <a:extLst xmlns:a="http://schemas.openxmlformats.org/drawingml/2006/main">
              <a:ext uri="{FF2B5EF4-FFF2-40B4-BE49-F238E27FC236}">
                <a16:creationId xmlns:a16="http://schemas.microsoft.com/office/drawing/2014/main" id="{AC8131AF-D235-4791-ACC2-5B08D1EF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885950" cy="3143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5-top-2">
            <a:extLst xmlns:a="http://schemas.openxmlformats.org/drawingml/2006/main">
              <a:ext uri="{FF2B5EF4-FFF2-40B4-BE49-F238E27FC236}">
                <a16:creationId xmlns:a16="http://schemas.microsoft.com/office/drawing/2014/main" id="{DBDE7523-9181-401F-B586-4C96C435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5-num-2">
            <a:extLst xmlns:a="http://schemas.openxmlformats.org/drawingml/2006/main">
              <a:ext uri="{FF2B5EF4-FFF2-40B4-BE49-F238E27FC236}">
                <a16:creationId xmlns:a16="http://schemas.microsoft.com/office/drawing/2014/main" id="{850D4357-827C-4A5F-AD79-66F62BDC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s5-title-2">
            <a:extLst xmlns:a="http://schemas.openxmlformats.org/drawingml/2006/main">
              <a:ext uri="{FF2B5EF4-FFF2-40B4-BE49-F238E27FC236}">
                <a16:creationId xmlns:a16="http://schemas.microsoft.com/office/drawing/2014/main" id="{08015299-CFFC-4DDC-8B5E-8B8F85B1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按标签分桶</a:t>
            </a:r>
          </a:p>
        </p:txBody>
      </p:sp>
      <p:sp>
        <p:nvSpPr>
          <p:cNvPr id="23" name="s5-body-2">
            <a:extLst xmlns:a="http://schemas.openxmlformats.org/drawingml/2006/main">
              <a:ext uri="{FF2B5EF4-FFF2-40B4-BE49-F238E27FC236}">
                <a16:creationId xmlns:a16="http://schemas.microsoft.com/office/drawing/2014/main" id="{D5581743-53CF-4E53-8C04-39213759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504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车辆、行人等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根据 class_id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进入不同类别桶</a:t>
            </a:r>
          </a:p>
        </p:txBody>
      </p:sp>
      <p:sp>
        <p:nvSpPr>
          <p:cNvPr id="24" name="s5-card-3">
            <a:extLst xmlns:a="http://schemas.openxmlformats.org/drawingml/2006/main">
              <a:ext uri="{FF2B5EF4-FFF2-40B4-BE49-F238E27FC236}">
                <a16:creationId xmlns:a16="http://schemas.microsoft.com/office/drawing/2014/main" id="{1869FB58-DC1A-424A-A97A-9C05D35E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52625"/>
            <a:ext cx="1885950" cy="3143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5-top-3">
            <a:extLst xmlns:a="http://schemas.openxmlformats.org/drawingml/2006/main">
              <a:ext uri="{FF2B5EF4-FFF2-40B4-BE49-F238E27FC236}">
                <a16:creationId xmlns:a16="http://schemas.microsoft.com/office/drawing/2014/main" id="{6A4D35A5-2F46-449B-958F-A62D22E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52625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5-num-3">
            <a:extLst xmlns:a="http://schemas.openxmlformats.org/drawingml/2006/main">
              <a:ext uri="{FF2B5EF4-FFF2-40B4-BE49-F238E27FC236}">
                <a16:creationId xmlns:a16="http://schemas.microsoft.com/office/drawing/2014/main" id="{ADD69C89-8D66-4495-81A4-B0B4E493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38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s5-title-3">
            <a:extLst xmlns:a="http://schemas.openxmlformats.org/drawingml/2006/main">
              <a:ext uri="{FF2B5EF4-FFF2-40B4-BE49-F238E27FC236}">
                <a16:creationId xmlns:a16="http://schemas.microsoft.com/office/drawing/2014/main" id="{7B553FD2-FDCE-4D45-A3D6-1B7DA2AE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每类独立聚类</a:t>
            </a:r>
          </a:p>
        </p:txBody>
      </p:sp>
      <p:sp>
        <p:nvSpPr>
          <p:cNvPr id="28" name="s5-body-3">
            <a:extLst xmlns:a="http://schemas.openxmlformats.org/drawingml/2006/main">
              <a:ext uri="{FF2B5EF4-FFF2-40B4-BE49-F238E27FC236}">
                <a16:creationId xmlns:a16="http://schemas.microsoft.com/office/drawing/2014/main" id="{F1680E1C-5286-4B25-A250-049875D4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76625"/>
            <a:ext cx="1504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VoxelGridBased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EuclideanCluster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按空间距离成簇</a:t>
            </a:r>
          </a:p>
        </p:txBody>
      </p:sp>
      <p:sp>
        <p:nvSpPr>
          <p:cNvPr id="29" name="s5-card-4">
            <a:extLst xmlns:a="http://schemas.openxmlformats.org/drawingml/2006/main">
              <a:ext uri="{FF2B5EF4-FFF2-40B4-BE49-F238E27FC236}">
                <a16:creationId xmlns:a16="http://schemas.microsoft.com/office/drawing/2014/main" id="{E3599775-E253-46E9-8C3F-C5ED91DF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52625"/>
            <a:ext cx="1885950" cy="3143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s5-top-4">
            <a:extLst xmlns:a="http://schemas.openxmlformats.org/drawingml/2006/main">
              <a:ext uri="{FF2B5EF4-FFF2-40B4-BE49-F238E27FC236}">
                <a16:creationId xmlns:a16="http://schemas.microsoft.com/office/drawing/2014/main" id="{9FEA755F-B7C4-4C00-B8F1-7251B63E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52625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5-num-4">
            <a:extLst xmlns:a="http://schemas.openxmlformats.org/drawingml/2006/main">
              <a:ext uri="{FF2B5EF4-FFF2-40B4-BE49-F238E27FC236}">
                <a16:creationId xmlns:a16="http://schemas.microsoft.com/office/drawing/2014/main" id="{98E3FA4C-1C78-412A-985A-9EB4A5DE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38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s5-title-4">
            <a:extLst xmlns:a="http://schemas.openxmlformats.org/drawingml/2006/main">
              <a:ext uri="{FF2B5EF4-FFF2-40B4-BE49-F238E27FC236}">
                <a16:creationId xmlns:a16="http://schemas.microsoft.com/office/drawing/2014/main" id="{95EC4577-C73D-4A01-83CA-BDAC8885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形状与输出</a:t>
            </a:r>
          </a:p>
        </p:txBody>
      </p:sp>
      <p:sp>
        <p:nvSpPr>
          <p:cNvPr id="33" name="s5-body-4">
            <a:extLst xmlns:a="http://schemas.openxmlformats.org/drawingml/2006/main">
              <a:ext uri="{FF2B5EF4-FFF2-40B4-BE49-F238E27FC236}">
                <a16:creationId xmlns:a16="http://schemas.microsoft.com/office/drawing/2014/main" id="{09D8BCC9-1B8E-47FB-BF78-63CD4438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76625"/>
            <a:ext cx="1504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ShapeEstimator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位置 / 姿态 / 形状</a:t>
            </a:r>
          </a:p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 DetectedObjects</a:t>
            </a:r>
          </a:p>
        </p:txBody>
      </p:sp>
      <p:sp>
        <p:nvSpPr>
          <p:cNvPr id="34" name="s5-caution-bg">
            <a:extLst xmlns:a="http://schemas.openxmlformats.org/drawingml/2006/main">
              <a:ext uri="{FF2B5EF4-FFF2-40B4-BE49-F238E27FC236}">
                <a16:creationId xmlns:a16="http://schemas.microsoft.com/office/drawing/2014/main" id="{0471C0D8-3174-42D8-B63A-396C7595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s5-caution">
            <a:extLst xmlns:a="http://schemas.openxmlformats.org/drawingml/2006/main">
              <a:ext uri="{FF2B5EF4-FFF2-40B4-BE49-F238E27FC236}">
                <a16:creationId xmlns:a16="http://schemas.microsoft.com/office/drawing/2014/main" id="{C1EEC3BC-E087-4E1D-BD86-163805D9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边界：它做空间聚类，不做跨帧跟踪；上游语义错标会直接影响输出。</a:t>
            </a:r>
          </a:p>
        </p:txBody>
      </p:sp>
    </p:spTree>
    <p:extLst>
      <p:ext uri="{BB962C8B-B14F-4D97-AF65-F5344CB8AC3E}">
        <p14:creationId xmlns:p14="http://schemas.microsoft.com/office/powerpoint/2010/main" val="1799772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6">
            <a:extLst xmlns:a="http://schemas.openxmlformats.org/drawingml/2006/main">
              <a:ext uri="{FF2B5EF4-FFF2-40B4-BE49-F238E27FC236}">
                <a16:creationId xmlns:a16="http://schemas.microsoft.com/office/drawing/2014/main" id="{E58C48EF-B8EF-4052-A7F1-77E0F821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两份资料的关系：相关，但不是同一个节点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B215F27F-A4D1-4D5B-A9A5-0CB0D95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s6-intro">
            <a:extLst xmlns:a="http://schemas.openxmlformats.org/drawingml/2006/main">
              <a:ext uri="{FF2B5EF4-FFF2-40B4-BE49-F238E27FC236}">
                <a16:creationId xmlns:a16="http://schemas.microsoft.com/office/drawing/2014/main" id="{E144FEB1-F809-45C7-901A-12B35EF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525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它们都在把点云变成可用于检测/跟踪的 3D 目标，但“语义加入的时机”和“是否直接使用相机”不同。</a:t>
            </a:r>
          </a:p>
        </p:txBody>
      </p:sp>
      <p:sp>
        <p:nvSpPr>
          <p:cNvPr id="4" name="s6-card-0">
            <a:extLst xmlns:a="http://schemas.openxmlformats.org/drawingml/2006/main">
              <a:ext uri="{FF2B5EF4-FFF2-40B4-BE49-F238E27FC236}">
                <a16:creationId xmlns:a16="http://schemas.microsoft.com/office/drawing/2014/main" id="{E42D717B-550F-4062-9F24-6965EE84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476875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6-bar-0">
            <a:extLst xmlns:a="http://schemas.openxmlformats.org/drawingml/2006/main">
              <a:ext uri="{FF2B5EF4-FFF2-40B4-BE49-F238E27FC236}">
                <a16:creationId xmlns:a16="http://schemas.microsoft.com/office/drawing/2014/main" id="{376B25C5-ECA2-426F-8446-EA634B31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47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label-0-bg">
            <a:extLst xmlns:a="http://schemas.openxmlformats.org/drawingml/2006/main">
              <a:ext uri="{FF2B5EF4-FFF2-40B4-BE49-F238E27FC236}">
                <a16:creationId xmlns:a16="http://schemas.microsoft.com/office/drawing/2014/main" id="{01A7055C-AAB3-48FF-8853-DCEC2FD0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7" name="s6-label-0-text">
            <a:extLst xmlns:a="http://schemas.openxmlformats.org/drawingml/2006/main">
              <a:ext uri="{FF2B5EF4-FFF2-40B4-BE49-F238E27FC236}">
                <a16:creationId xmlns:a16="http://schemas.microsoft.com/office/drawing/2014/main" id="{02EB4F6F-8294-42A9-9308-FD025776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融合节点</a:t>
            </a:r>
          </a:p>
        </p:txBody>
      </p:sp>
      <p:sp>
        <p:nvSpPr>
          <p:cNvPr id="8" name="s6-title-0">
            <a:extLst xmlns:a="http://schemas.openxmlformats.org/drawingml/2006/main">
              <a:ext uri="{FF2B5EF4-FFF2-40B4-BE49-F238E27FC236}">
                <a16:creationId xmlns:a16="http://schemas.microsoft.com/office/drawing/2014/main" id="{DFEF873E-AD3B-44D4-B0A0-C0B0DEF3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cluster fusion</a:t>
            </a:r>
          </a:p>
        </p:txBody>
      </p:sp>
      <p:sp>
        <p:nvSpPr>
          <p:cNvPr id="9" name="s6-key-0-0">
            <a:extLst xmlns:a="http://schemas.openxmlformats.org/drawingml/2006/main">
              <a:ext uri="{FF2B5EF4-FFF2-40B4-BE49-F238E27FC236}">
                <a16:creationId xmlns:a16="http://schemas.microsoft.com/office/drawing/2014/main" id="{E4CE0768-E209-40CB-A507-1D1BBAC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s6-value-0-0">
            <a:extLst xmlns:a="http://schemas.openxmlformats.org/drawingml/2006/main">
              <a:ext uri="{FF2B5EF4-FFF2-40B4-BE49-F238E27FC236}">
                <a16:creationId xmlns:a16="http://schemas.microsoft.com/office/drawing/2014/main" id="{814F05A5-B1AB-4194-979B-4E273BFA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3D cluster + 2D ROI + CameraInfo</a:t>
            </a:r>
          </a:p>
        </p:txBody>
      </p:sp>
      <p:sp>
        <p:nvSpPr>
          <p:cNvPr id="11" name="s6-key-0-1">
            <a:extLst xmlns:a="http://schemas.openxmlformats.org/drawingml/2006/main">
              <a:ext uri="{FF2B5EF4-FFF2-40B4-BE49-F238E27FC236}">
                <a16:creationId xmlns:a16="http://schemas.microsoft.com/office/drawing/2014/main" id="{29634420-DC0C-4DA9-A5C1-AC9C61F9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12" name="s6-value-0-1">
            <a:extLst xmlns:a="http://schemas.openxmlformats.org/drawingml/2006/main">
              <a:ext uri="{FF2B5EF4-FFF2-40B4-BE49-F238E27FC236}">
                <a16:creationId xmlns:a16="http://schemas.microsoft.com/office/drawing/2014/main" id="{8A5FA5B3-88F9-4AF9-A933-FB6B4BCA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直接使用相机检测结果</a:t>
            </a:r>
          </a:p>
        </p:txBody>
      </p:sp>
      <p:sp>
        <p:nvSpPr>
          <p:cNvPr id="13" name="s6-key-0-2">
            <a:extLst xmlns:a="http://schemas.openxmlformats.org/drawingml/2006/main">
              <a:ext uri="{FF2B5EF4-FFF2-40B4-BE49-F238E27FC236}">
                <a16:creationId xmlns:a16="http://schemas.microsoft.com/office/drawing/2014/main" id="{D17DC32E-6A4C-4007-91E7-0F98DAF2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</p:txBody>
      </p:sp>
      <p:sp>
        <p:nvSpPr>
          <p:cNvPr id="14" name="s6-value-0-2">
            <a:extLst xmlns:a="http://schemas.openxmlformats.org/drawingml/2006/main">
              <a:ext uri="{FF2B5EF4-FFF2-40B4-BE49-F238E27FC236}">
                <a16:creationId xmlns:a16="http://schemas.microsoft.com/office/drawing/2014/main" id="{B16D31D3-AE0C-45B9-AFD6-323A6CB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3D→2D 投影 + IoU 匹配</a:t>
            </a:r>
          </a:p>
        </p:txBody>
      </p:sp>
      <p:sp>
        <p:nvSpPr>
          <p:cNvPr id="15" name="s6-card-1">
            <a:extLst xmlns:a="http://schemas.openxmlformats.org/drawingml/2006/main">
              <a:ext uri="{FF2B5EF4-FFF2-40B4-BE49-F238E27FC236}">
                <a16:creationId xmlns:a16="http://schemas.microsoft.com/office/drawing/2014/main" id="{17DB8903-7739-4520-B031-65B049E6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47875"/>
            <a:ext cx="5476875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s6-bar-1">
            <a:extLst xmlns:a="http://schemas.openxmlformats.org/drawingml/2006/main">
              <a:ext uri="{FF2B5EF4-FFF2-40B4-BE49-F238E27FC236}">
                <a16:creationId xmlns:a16="http://schemas.microsoft.com/office/drawing/2014/main" id="{8957E888-7323-4BAF-A9DB-B20AB894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47875"/>
            <a:ext cx="547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6-label-1-bg">
            <a:extLst xmlns:a="http://schemas.openxmlformats.org/drawingml/2006/main">
              <a:ext uri="{FF2B5EF4-FFF2-40B4-BE49-F238E27FC236}">
                <a16:creationId xmlns:a16="http://schemas.microsoft.com/office/drawing/2014/main" id="{592F7C3F-92E0-4DA9-9780-6715C941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33625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8" name="s6-label-1-text">
            <a:extLst xmlns:a="http://schemas.openxmlformats.org/drawingml/2006/main">
              <a:ext uri="{FF2B5EF4-FFF2-40B4-BE49-F238E27FC236}">
                <a16:creationId xmlns:a16="http://schemas.microsoft.com/office/drawing/2014/main" id="{CAED5B7E-C44C-40D5-AE4C-C6EBFBDF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336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聚类节点</a:t>
            </a:r>
          </a:p>
        </p:txBody>
      </p:sp>
      <p:sp>
        <p:nvSpPr>
          <p:cNvPr id="19" name="s6-title-1">
            <a:extLst xmlns:a="http://schemas.openxmlformats.org/drawingml/2006/main">
              <a:ext uri="{FF2B5EF4-FFF2-40B4-BE49-F238E27FC236}">
                <a16:creationId xmlns:a16="http://schemas.microsoft.com/office/drawing/2014/main" id="{BD5C3E42-7753-4A72-A137-9A33C4F0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57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cluster</a:t>
            </a:r>
          </a:p>
        </p:txBody>
      </p:sp>
      <p:sp>
        <p:nvSpPr>
          <p:cNvPr id="20" name="s6-key-1-0">
            <a:extLst xmlns:a="http://schemas.openxmlformats.org/drawingml/2006/main">
              <a:ext uri="{FF2B5EF4-FFF2-40B4-BE49-F238E27FC236}">
                <a16:creationId xmlns:a16="http://schemas.microsoft.com/office/drawing/2014/main" id="{C565DDAD-B21E-4948-A9F0-EA0728B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718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1" name="s6-value-1-0">
            <a:extLst xmlns:a="http://schemas.openxmlformats.org/drawingml/2006/main">
              <a:ext uri="{FF2B5EF4-FFF2-40B4-BE49-F238E27FC236}">
                <a16:creationId xmlns:a16="http://schemas.microsoft.com/office/drawing/2014/main" id="{13697812-DA85-430D-8F0A-5BD1986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71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带 class_id 的 PointCloud2</a:t>
            </a:r>
          </a:p>
        </p:txBody>
      </p:sp>
      <p:sp>
        <p:nvSpPr>
          <p:cNvPr id="22" name="s6-key-1-1">
            <a:extLst xmlns:a="http://schemas.openxmlformats.org/drawingml/2006/main">
              <a:ext uri="{FF2B5EF4-FFF2-40B4-BE49-F238E27FC236}">
                <a16:creationId xmlns:a16="http://schemas.microsoft.com/office/drawing/2014/main" id="{8BF19804-0460-4ADB-B632-B42E1B8C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957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23" name="s6-value-1-1">
            <a:extLst xmlns:a="http://schemas.openxmlformats.org/drawingml/2006/main">
              <a:ext uri="{FF2B5EF4-FFF2-40B4-BE49-F238E27FC236}">
                <a16:creationId xmlns:a16="http://schemas.microsoft.com/office/drawing/2014/main" id="{9ABB7A04-628A-47E3-B6E5-AF17C2E3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95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不直接接收图像或 2D ROI</a:t>
            </a:r>
          </a:p>
        </p:txBody>
      </p:sp>
      <p:sp>
        <p:nvSpPr>
          <p:cNvPr id="24" name="s6-key-1-2">
            <a:extLst xmlns:a="http://schemas.openxmlformats.org/drawingml/2006/main">
              <a:ext uri="{FF2B5EF4-FFF2-40B4-BE49-F238E27FC236}">
                <a16:creationId xmlns:a16="http://schemas.microsoft.com/office/drawing/2014/main" id="{406BB78A-E17F-42B8-B447-CF5DDE9A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196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</p:txBody>
      </p:sp>
      <p:sp>
        <p:nvSpPr>
          <p:cNvPr id="25" name="s6-value-1-2">
            <a:extLst xmlns:a="http://schemas.openxmlformats.org/drawingml/2006/main">
              <a:ext uri="{FF2B5EF4-FFF2-40B4-BE49-F238E27FC236}">
                <a16:creationId xmlns:a16="http://schemas.microsoft.com/office/drawing/2014/main" id="{B22A755B-AF94-4709-BD64-DE277930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19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同类别内部按空间距离聚类</a:t>
            </a:r>
          </a:p>
        </p:txBody>
      </p:sp>
      <p:sp>
        <p:nvSpPr>
          <p:cNvPr id="26" name="s6-warning-bg">
            <a:extLst xmlns:a="http://schemas.openxmlformats.org/drawingml/2006/main">
              <a:ext uri="{FF2B5EF4-FFF2-40B4-BE49-F238E27FC236}">
                <a16:creationId xmlns:a16="http://schemas.microsoft.com/office/drawing/2014/main" id="{1E7BFE1D-7D81-413A-856B-56F4FEC3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27" name="s6-warning">
            <a:extLst xmlns:a="http://schemas.openxmlformats.org/drawingml/2006/main">
              <a:ext uri="{FF2B5EF4-FFF2-40B4-BE49-F238E27FC236}">
                <a16:creationId xmlns:a16="http://schemas.microsoft.com/office/drawing/2014/main" id="{86FFBD95-176D-4029-9092-732D142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不能未经验证画成：roi_cluster_fusion → label_based_euclidean_cluster（官方资料没有证明这是默认流水线）</a:t>
            </a:r>
          </a:p>
        </p:txBody>
      </p:sp>
    </p:spTree>
    <p:extLst>
      <p:ext uri="{BB962C8B-B14F-4D97-AF65-F5344CB8AC3E}">
        <p14:creationId xmlns:p14="http://schemas.microsoft.com/office/powerpoint/2010/main" val="788456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7">
            <a:extLst xmlns:a="http://schemas.openxmlformats.org/drawingml/2006/main">
              <a:ext uri="{FF2B5EF4-FFF2-40B4-BE49-F238E27FC236}">
                <a16:creationId xmlns:a16="http://schemas.microsoft.com/office/drawing/2014/main" id="{55F62596-468F-4B9F-AF8D-7BE5739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到 8 月 5 日：先学清主线，再补真实验证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9F06FD38-E92B-4183-B005-0F74B9A9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7-done-bg">
            <a:extLst xmlns:a="http://schemas.openxmlformats.org/drawingml/2006/main">
              <a:ext uri="{FF2B5EF4-FFF2-40B4-BE49-F238E27FC236}">
                <a16:creationId xmlns:a16="http://schemas.microsoft.com/office/drawing/2014/main" id="{58E5832D-DA67-4DDB-A4AA-FE74620F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547687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s7-done">
            <a:extLst xmlns:a="http://schemas.openxmlformats.org/drawingml/2006/main">
              <a:ext uri="{FF2B5EF4-FFF2-40B4-BE49-F238E27FC236}">
                <a16:creationId xmlns:a16="http://schemas.microsoft.com/office/drawing/2014/main" id="{91545DC6-E2EC-4E34-A1E7-C7091ECA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501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已完成　架构定位 · 数据流 · 两模块区别</a:t>
            </a:r>
          </a:p>
        </p:txBody>
      </p:sp>
      <p:sp>
        <p:nvSpPr>
          <p:cNvPr id="5" name="s7-pending-bg">
            <a:extLst xmlns:a="http://schemas.openxmlformats.org/drawingml/2006/main">
              <a:ext uri="{FF2B5EF4-FFF2-40B4-BE49-F238E27FC236}">
                <a16:creationId xmlns:a16="http://schemas.microsoft.com/office/drawing/2014/main" id="{A29ED828-2257-4C02-8473-90CDC89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190625"/>
            <a:ext cx="547687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6" name="s7-pending">
            <a:extLst xmlns:a="http://schemas.openxmlformats.org/drawingml/2006/main">
              <a:ext uri="{FF2B5EF4-FFF2-40B4-BE49-F238E27FC236}">
                <a16:creationId xmlns:a16="http://schemas.microsoft.com/office/drawing/2014/main" id="{BE5EF674-8DDF-431C-A872-7F784B31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381125"/>
            <a:ext cx="501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待验证　Autoware · rosbag · 标定与 Topic/TF</a:t>
            </a:r>
          </a:p>
        </p:txBody>
      </p:sp>
      <p:sp>
        <p:nvSpPr>
          <p:cNvPr id="7" name="s7-line">
            <a:extLst xmlns:a="http://schemas.openxmlformats.org/drawingml/2006/main">
              <a:ext uri="{FF2B5EF4-FFF2-40B4-BE49-F238E27FC236}">
                <a16:creationId xmlns:a16="http://schemas.microsoft.com/office/drawing/2014/main" id="{888EB988-44F5-4D33-9E78-0A3A47DC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040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7-node-0">
            <a:extLst xmlns:a="http://schemas.openxmlformats.org/drawingml/2006/main">
              <a:ext uri="{FF2B5EF4-FFF2-40B4-BE49-F238E27FC236}">
                <a16:creationId xmlns:a16="http://schemas.microsoft.com/office/drawing/2014/main" id="{CA045631-CDFC-4565-9FEE-9554B7F6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19425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7-date-0">
            <a:extLst xmlns:a="http://schemas.openxmlformats.org/drawingml/2006/main">
              <a:ext uri="{FF2B5EF4-FFF2-40B4-BE49-F238E27FC236}">
                <a16:creationId xmlns:a16="http://schemas.microsoft.com/office/drawing/2014/main" id="{969E96D1-9383-404B-978D-EF2E15E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7/31—8/1</a:t>
            </a:r>
          </a:p>
        </p:txBody>
      </p:sp>
      <p:sp>
        <p:nvSpPr>
          <p:cNvPr id="10" name="s7-title-0">
            <a:extLst xmlns:a="http://schemas.openxmlformats.org/drawingml/2006/main">
              <a:ext uri="{FF2B5EF4-FFF2-40B4-BE49-F238E27FC236}">
                <a16:creationId xmlns:a16="http://schemas.microsoft.com/office/drawing/2014/main" id="{CBA719C8-D844-4BA6-B94F-7CAD72F0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融合基础</a:t>
            </a:r>
          </a:p>
        </p:txBody>
      </p:sp>
      <p:sp>
        <p:nvSpPr>
          <p:cNvPr id="11" name="s7-body-0">
            <a:extLst xmlns:a="http://schemas.openxmlformats.org/drawingml/2006/main">
              <a:ext uri="{FF2B5EF4-FFF2-40B4-BE49-F238E27FC236}">
                <a16:creationId xmlns:a16="http://schemas.microsoft.com/office/drawing/2014/main" id="{5D31C0E5-90C2-473A-A6B2-4B6357DF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架构位置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TF 外参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CameraInfo 内参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时间同步</a:t>
            </a:r>
          </a:p>
        </p:txBody>
      </p:sp>
      <p:sp>
        <p:nvSpPr>
          <p:cNvPr id="12" name="s7-node-1">
            <a:extLst xmlns:a="http://schemas.openxmlformats.org/drawingml/2006/main">
              <a:ext uri="{FF2B5EF4-FFF2-40B4-BE49-F238E27FC236}">
                <a16:creationId xmlns:a16="http://schemas.microsoft.com/office/drawing/2014/main" id="{7022A588-CC6C-4693-A288-42D0EEAF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019425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7-date-1">
            <a:extLst xmlns:a="http://schemas.openxmlformats.org/drawingml/2006/main">
              <a:ext uri="{FF2B5EF4-FFF2-40B4-BE49-F238E27FC236}">
                <a16:creationId xmlns:a16="http://schemas.microsoft.com/office/drawing/2014/main" id="{3B7C5E62-5D44-4FF5-9C34-18E31D50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8/2—8/3</a:t>
            </a:r>
          </a:p>
        </p:txBody>
      </p:sp>
      <p:sp>
        <p:nvSpPr>
          <p:cNvPr id="14" name="s7-title-1">
            <a:extLst xmlns:a="http://schemas.openxmlformats.org/drawingml/2006/main">
              <a:ext uri="{FF2B5EF4-FFF2-40B4-BE49-F238E27FC236}">
                <a16:creationId xmlns:a16="http://schemas.microsoft.com/office/drawing/2014/main" id="{5B5F26D2-5FBF-40CF-A9F5-1BE34A3B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81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两模块</a:t>
            </a:r>
          </a:p>
        </p:txBody>
      </p:sp>
      <p:sp>
        <p:nvSpPr>
          <p:cNvPr id="15" name="s7-body-1">
            <a:extLst xmlns:a="http://schemas.openxmlformats.org/drawingml/2006/main">
              <a:ext uri="{FF2B5EF4-FFF2-40B4-BE49-F238E27FC236}">
                <a16:creationId xmlns:a16="http://schemas.microsoft.com/office/drawing/2014/main" id="{89D8D8E8-D399-4DEC-9555-6480CBD2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ROI 投影与 IoU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label-based 数据流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聚类参数与失败模式</a:t>
            </a:r>
          </a:p>
        </p:txBody>
      </p:sp>
      <p:sp>
        <p:nvSpPr>
          <p:cNvPr id="16" name="s7-node-2">
            <a:extLst xmlns:a="http://schemas.openxmlformats.org/drawingml/2006/main">
              <a:ext uri="{FF2B5EF4-FFF2-40B4-BE49-F238E27FC236}">
                <a16:creationId xmlns:a16="http://schemas.microsoft.com/office/drawing/2014/main" id="{DB4804FC-26D7-407E-86E0-A265F5B2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19425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7-date-2">
            <a:extLst xmlns:a="http://schemas.openxmlformats.org/drawingml/2006/main">
              <a:ext uri="{FF2B5EF4-FFF2-40B4-BE49-F238E27FC236}">
                <a16:creationId xmlns:a16="http://schemas.microsoft.com/office/drawing/2014/main" id="{65FE7B4C-18BC-49E7-94A3-FA00124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8/4—8/5</a:t>
            </a:r>
          </a:p>
        </p:txBody>
      </p:sp>
      <p:sp>
        <p:nvSpPr>
          <p:cNvPr id="18" name="s7-title-2">
            <a:extLst xmlns:a="http://schemas.openxmlformats.org/drawingml/2006/main">
              <a:ext uri="{FF2B5EF4-FFF2-40B4-BE49-F238E27FC236}">
                <a16:creationId xmlns:a16="http://schemas.microsoft.com/office/drawing/2014/main" id="{4291961C-8BB4-449C-8CA4-9D5E1446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81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PPT 与演练</a:t>
            </a:r>
          </a:p>
        </p:txBody>
      </p:sp>
      <p:sp>
        <p:nvSpPr>
          <p:cNvPr id="19" name="s7-body-2">
            <a:extLst xmlns:a="http://schemas.openxmlformats.org/drawingml/2006/main">
              <a:ext uri="{FF2B5EF4-FFF2-40B4-BE49-F238E27FC236}">
                <a16:creationId xmlns:a16="http://schemas.microsoft.com/office/drawing/2014/main" id="{C9ABB944-A032-43D8-9CE3-CE539021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补齐讲稿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只加真实运行截图</a:t>
            </a:r>
          </a:p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8/5 不再扩展范围</a:t>
            </a:r>
          </a:p>
        </p:txBody>
      </p:sp>
      <p:sp>
        <p:nvSpPr>
          <p:cNvPr id="20" name="s7-bottom">
            <a:extLst xmlns:a="http://schemas.openxmlformats.org/drawingml/2006/main">
              <a:ext uri="{FF2B5EF4-FFF2-40B4-BE49-F238E27FC236}">
                <a16:creationId xmlns:a16="http://schemas.microsoft.com/office/drawing/2014/main" id="{BEBC62C4-121E-49D0-8FAA-F1C5A991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真实运行截图的前提：拿到 rosbag、标定结果、相机/点云 Topic 与 TF；否则继续标明“待验证”。</a:t>
            </a:r>
          </a:p>
        </p:txBody>
      </p:sp>
    </p:spTree>
    <p:extLst>
      <p:ext uri="{BB962C8B-B14F-4D97-AF65-F5344CB8AC3E}">
        <p14:creationId xmlns:p14="http://schemas.microsoft.com/office/powerpoint/2010/main" val="1529607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8-kicker">
            <a:extLst xmlns:a="http://schemas.openxmlformats.org/drawingml/2006/main">
              <a:ext uri="{FF2B5EF4-FFF2-40B4-BE49-F238E27FC236}">
                <a16:creationId xmlns:a16="http://schemas.microsoft.com/office/drawing/2014/main" id="{6DB04891-1D8F-43C2-A17B-2F157CB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汇报结论 · 待老师确认</a:t>
            </a:r>
          </a:p>
        </p:txBody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3B855D9E-609D-4C3A-8D08-307E23EE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我现在能讲清三件事：</a:t>
            </a:r>
          </a:p>
          <a:p xmlns:a="http://schemas.openxmlformats.org/drawingml/2006/main">
            <a:pPr algn="l">
              <a:defRPr sz="3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融合链路在哪里</a:t>
            </a:r>
          </a:p>
          <a:p xmlns:a="http://schemas.openxmlformats.org/drawingml/2006/main">
            <a:pPr algn="l">
              <a:defRPr sz="3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投影如何匹配</a:t>
            </a:r>
          </a:p>
          <a:p xmlns:a="http://schemas.openxmlformats.org/drawingml/2006/main">
            <a:pPr algn="l">
              <a:defRPr sz="3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为何不是融合节点</a:t>
            </a:r>
          </a:p>
        </p:txBody>
      </p:sp>
      <p:sp>
        <p:nvSpPr>
          <p:cNvPr id="3" name="s8-dot-0">
            <a:extLst xmlns:a="http://schemas.openxmlformats.org/drawingml/2006/main">
              <a:ext uri="{FF2B5EF4-FFF2-40B4-BE49-F238E27FC236}">
                <a16:creationId xmlns:a16="http://schemas.microsoft.com/office/drawing/2014/main" id="{986C7107-104E-4F22-A4DA-210EC662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8-question-0">
            <a:extLst xmlns:a="http://schemas.openxmlformats.org/drawingml/2006/main">
              <a:ext uri="{FF2B5EF4-FFF2-40B4-BE49-F238E27FC236}">
                <a16:creationId xmlns:a16="http://schemas.microsoft.com/office/drawing/2014/main" id="{F58D5C5F-EBDA-4AAF-A9C4-5F7A8ED2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“雷达”是否只指 LiDAR，还是也包括毫米波 Radar？</a:t>
            </a:r>
          </a:p>
        </p:txBody>
      </p:sp>
      <p:sp>
        <p:nvSpPr>
          <p:cNvPr id="5" name="s8-dot-1">
            <a:extLst xmlns:a="http://schemas.openxmlformats.org/drawingml/2006/main">
              <a:ext uri="{FF2B5EF4-FFF2-40B4-BE49-F238E27FC236}">
                <a16:creationId xmlns:a16="http://schemas.microsoft.com/office/drawing/2014/main" id="{D24D89B5-E4FE-43FE-95B4-F0104F22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8-question-1">
            <a:extLst xmlns:a="http://schemas.openxmlformats.org/drawingml/2006/main">
              <a:ext uri="{FF2B5EF4-FFF2-40B4-BE49-F238E27FC236}">
                <a16:creationId xmlns:a16="http://schemas.microsoft.com/office/drawing/2014/main" id="{817C1349-5C3C-40DF-BAA7-D5E1C5D7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是否有可用 rosbag、标定结果、相机/点云 Topic 与 TF？</a:t>
            </a:r>
          </a:p>
        </p:txBody>
      </p:sp>
      <p:sp>
        <p:nvSpPr>
          <p:cNvPr id="7" name="s8-dot-2">
            <a:extLst xmlns:a="http://schemas.openxmlformats.org/drawingml/2006/main">
              <a:ext uri="{FF2B5EF4-FFF2-40B4-BE49-F238E27FC236}">
                <a16:creationId xmlns:a16="http://schemas.microsoft.com/office/drawing/2014/main" id="{BD5F78A3-A859-483D-A43D-E0F551DA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8-question-2">
            <a:extLst xmlns:a="http://schemas.openxmlformats.org/drawingml/2006/main">
              <a:ext uri="{FF2B5EF4-FFF2-40B4-BE49-F238E27FC236}">
                <a16:creationId xmlns:a16="http://schemas.microsoft.com/office/drawing/2014/main" id="{0B19777C-D002-4F46-B1E9-4D8AEF23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下周汇报要求架构理解，还是必须包含运行结果？</a:t>
            </a:r>
          </a:p>
        </p:txBody>
      </p:sp>
      <p:sp>
        <p:nvSpPr>
          <p:cNvPr id="9" name="s8-side-card">
            <a:extLst xmlns:a="http://schemas.openxmlformats.org/drawingml/2006/main">
              <a:ext uri="{FF2B5EF4-FFF2-40B4-BE49-F238E27FC236}">
                <a16:creationId xmlns:a16="http://schemas.microsoft.com/office/drawing/2014/main" id="{61B94D23-9248-4B99-8DB8-5001863C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28750"/>
            <a:ext cx="1695450" cy="36385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10" name="s8-side-text">
            <a:extLst xmlns:a="http://schemas.openxmlformats.org/drawingml/2006/main">
              <a:ext uri="{FF2B5EF4-FFF2-40B4-BE49-F238E27FC236}">
                <a16:creationId xmlns:a16="http://schemas.microsoft.com/office/drawing/2014/main" id="{CD6454D8-D280-497E-AD24-EECFCEA1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90700"/>
            <a:ext cx="13144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相机给语义</a:t>
            </a:r>
          </a:p>
          <a:p xmlns:a="http://schemas.openxmlformats.org/drawingml/2006/main">
            <a:pPr algn="ctr">
              <a:def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LiDAR 给 3D</a:t>
            </a:r>
          </a:p>
          <a:p xmlns:a="http://schemas.openxmlformats.org/drawingml/2006/main">
            <a:pPr algn="ctr">
              <a:def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融合确认</a:t>
            </a:r>
          </a:p>
          <a:p xmlns:a="http://schemas.openxmlformats.org/drawingml/2006/main">
            <a:pPr algn="ctr">
              <a:def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同一目标</a:t>
            </a:r>
          </a:p>
        </p:txBody>
      </p:sp>
      <p:sp>
        <p:nvSpPr>
          <p:cNvPr id="11" name="s8-page">
            <a:extLst xmlns:a="http://schemas.openxmlformats.org/drawingml/2006/main">
              <a:ext uri="{FF2B5EF4-FFF2-40B4-BE49-F238E27FC236}">
                <a16:creationId xmlns:a16="http://schemas.microsoft.com/office/drawing/2014/main" id="{A7796086-993A-4B9F-AA88-E93656B8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3710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2026-07-31T08:19:51.6030000Z</dcterms:created>
  <dcterms:modified xsi:type="dcterms:W3CDTF">2026-07-31T08:19:51.6030000Z</dcterms:modified>
</coreProperties>
</file>