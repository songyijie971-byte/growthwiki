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6179467a58407e" /><Relationship Type="http://schemas.openxmlformats.org/officeDocument/2006/relationships/extended-properties" Target="/docProps/app.xml" Id="Rc09647cbe2324649" /><Relationship Type="http://schemas.openxmlformats.org/officeDocument/2006/relationships/officeDocument" Target="/ppt/presentation.xml" Id="Re578c5aba855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745e45ed464545"/>
  </p:sldMasterIdLst>
  <p:notesMasterIdLst>
    <p:notesMasterId xmlns:r="http://schemas.openxmlformats.org/officeDocument/2006/relationships" r:id="R76a79c28e85d427f"/>
  </p:notesMasterIdLst>
  <p:sldIdLst>
    <p:sldId xmlns:r="http://schemas.openxmlformats.org/officeDocument/2006/relationships" id="256" r:id="R5d1eb2a551a849a4"/>
    <p:sldId xmlns:r="http://schemas.openxmlformats.org/officeDocument/2006/relationships" id="257" r:id="R32bb32ac3cae4311"/>
    <p:sldId xmlns:r="http://schemas.openxmlformats.org/officeDocument/2006/relationships" id="258" r:id="R9a4ea2833d6d4dbe"/>
    <p:sldId xmlns:r="http://schemas.openxmlformats.org/officeDocument/2006/relationships" id="259" r:id="R69085106cd244405"/>
    <p:sldId xmlns:r="http://schemas.openxmlformats.org/officeDocument/2006/relationships" id="260" r:id="R01718084f12d46a6"/>
    <p:sldId xmlns:r="http://schemas.openxmlformats.org/officeDocument/2006/relationships" id="261" r:id="R511c9b57542347ca"/>
    <p:sldId xmlns:r="http://schemas.openxmlformats.org/officeDocument/2006/relationships" id="262" r:id="R52ea66a20dc0488f"/>
    <p:sldId xmlns:r="http://schemas.openxmlformats.org/officeDocument/2006/relationships" id="263" r:id="Rad396116822643a1"/>
    <p:sldId xmlns:r="http://schemas.openxmlformats.org/officeDocument/2006/relationships" id="264" r:id="Rfd536097eecd4bf9"/>
    <p:sldId xmlns:r="http://schemas.openxmlformats.org/officeDocument/2006/relationships" id="265" r:id="R1108b8ddc838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04cdebe984cc3" /><Relationship Type="http://schemas.openxmlformats.org/officeDocument/2006/relationships/slideMaster" Target="/ppt/slideMasters/slideMaster1.xml" Id="R88745e45ed464545" /><Relationship Type="http://schemas.openxmlformats.org/officeDocument/2006/relationships/notesMaster" Target="/ppt/notesMasters/notesMaster1.xml" Id="R76a79c28e85d427f" /><Relationship Type="http://schemas.openxmlformats.org/officeDocument/2006/relationships/presProps" Target="/ppt/presProps.xml" Id="Rc4cb399c0c724402" /><Relationship Type="http://schemas.openxmlformats.org/officeDocument/2006/relationships/tableStyles" Target="/ppt/tableStyles.xml" Id="Rb1e801eb503b4c38" /><Relationship Type="http://schemas.openxmlformats.org/officeDocument/2006/relationships/slide" Target="/ppt/slides/slide1.xml" Id="R5d1eb2a551a849a4" /><Relationship Type="http://schemas.openxmlformats.org/officeDocument/2006/relationships/slide" Target="/ppt/slides/slide2.xml" Id="R32bb32ac3cae4311" /><Relationship Type="http://schemas.openxmlformats.org/officeDocument/2006/relationships/slide" Target="/ppt/slides/slide3.xml" Id="R9a4ea2833d6d4dbe" /><Relationship Type="http://schemas.openxmlformats.org/officeDocument/2006/relationships/slide" Target="/ppt/slides/slide4.xml" Id="R69085106cd244405" /><Relationship Type="http://schemas.openxmlformats.org/officeDocument/2006/relationships/slide" Target="/ppt/slides/slide5.xml" Id="R01718084f12d46a6" /><Relationship Type="http://schemas.openxmlformats.org/officeDocument/2006/relationships/slide" Target="/ppt/slides/slide6.xml" Id="R511c9b57542347ca" /><Relationship Type="http://schemas.openxmlformats.org/officeDocument/2006/relationships/slide" Target="/ppt/slides/slide7.xml" Id="R52ea66a20dc0488f" /><Relationship Type="http://schemas.openxmlformats.org/officeDocument/2006/relationships/slide" Target="/ppt/slides/slide8.xml" Id="Rad396116822643a1" /><Relationship Type="http://schemas.openxmlformats.org/officeDocument/2006/relationships/slide" Target="/ppt/slides/slide9.xml" Id="Rfd536097eecd4bf9" /><Relationship Type="http://schemas.openxmlformats.org/officeDocument/2006/relationships/slide" Target="/ppt/slides/slide10.xml" Id="R1108b8ddc838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1511d2084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f2916db1224051" /><Relationship Type="http://schemas.openxmlformats.org/officeDocument/2006/relationships/notesMaster" Target="/ppt/notesMasters/notesMaster1.xml" Id="Rd6252742c5f344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7525ae6e4a4a51" /><Relationship Type="http://schemas.openxmlformats.org/officeDocument/2006/relationships/notesMaster" Target="/ppt/notesMasters/notesMaster1.xml" Id="Rc989b92c7916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837e944a774fd0" /><Relationship Type="http://schemas.openxmlformats.org/officeDocument/2006/relationships/notesMaster" Target="/ppt/notesMasters/notesMaster1.xml" Id="Rcd15d8e354b5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ca47eeae44240" /><Relationship Type="http://schemas.openxmlformats.org/officeDocument/2006/relationships/notesMaster" Target="/ppt/notesMasters/notesMaster1.xml" Id="R5ce65d48186e4c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b7f2aeb104f7b" /><Relationship Type="http://schemas.openxmlformats.org/officeDocument/2006/relationships/notesMaster" Target="/ppt/notesMasters/notesMaster1.xml" Id="Reb304679c954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038832d36d4e1a" /><Relationship Type="http://schemas.openxmlformats.org/officeDocument/2006/relationships/notesMaster" Target="/ppt/notesMasters/notesMaster1.xml" Id="Rd95f6214186c49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c9232007b4e25" /><Relationship Type="http://schemas.openxmlformats.org/officeDocument/2006/relationships/notesMaster" Target="/ppt/notesMasters/notesMaster1.xml" Id="R35fdbb3ccea944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a749d5f4d493a" /><Relationship Type="http://schemas.openxmlformats.org/officeDocument/2006/relationships/notesMaster" Target="/ppt/notesMasters/notesMaster1.xml" Id="R949461624d024d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5d8432280748c5" /><Relationship Type="http://schemas.openxmlformats.org/officeDocument/2006/relationships/notesMaster" Target="/ppt/notesMasters/notesMaster1.xml" Id="Rb74b8ca338e94d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fdb9ced9294451" /><Relationship Type="http://schemas.openxmlformats.org/officeDocument/2006/relationships/notesMaster" Target="/ppt/notesMasters/notesMaster1.xml" Id="R7dafcd7f57ea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50_智能驾驶/01_基础概念/视觉与 LiDAR 融合.md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50_智能驾驶/01_基础概念/视觉与 LiDAR 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老师给出的四个 LiDAR 包并不是一条固定流水线。FRNet 对每个点做语义预测；Apollo 输出仍保留实例点簇；CenterPoint 和当前 Autoware LiDAR TransFusion 直接输出完整三维目标。因此不能只凭名称或论文图判断节点作用，应该先看实际输入输出接口。右侧两张图都是官方资料，不是我本地运行的截图。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https://autowarefoundation.github.io/autoware_universe/main/perception/autoware_lidar_apollo_instance_segmentation/</a:t>
            </a:r>
          </a:p>
          <a:p xmlns:a="http://schemas.openxmlformats.org/drawingml/2006/main">
            <a:r>
              <a:t>- https://github.com/tianweiy/CenterPoint</a:t>
            </a:r>
          </a:p>
          <a:p xmlns:a="http://schemas.openxmlformats.org/drawingml/2006/main">
            <a:r>
              <a:t>- https://github.com/autowarefoundation/autoware_universe/tree/main/perception/autoware_lidar_frnet</a:t>
            </a:r>
          </a:p>
          <a:p xmlns:a="http://schemas.openxmlformats.org/drawingml/2006/main">
            <a:r>
              <a:t>- https://autowarefoundation.github.io/autoware_universe/main/perception/autoware_lidar_transfusion/</a:t>
            </a:r>
          </a:p>
          <a:p xmlns:a="http://schemas.openxmlformats.org/drawingml/2006/main">
            <a:r>
              <a:t>- Local note: 50_智能驾驶/01_基础概念/四个 LiDAR 包的接口与关系.md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从接口出发，Apollo 保留点簇特征，因此需要相机更新标签时看 roi_cluster_fusion；CenterPoint 和当前 LiDAR TransFusion 已经输出 DetectedObjects，因此看 roi_detected_object_fusion；FRNet 仍是逐点语义点云，需要先形成实例点簇或目标。右侧官方架构图说明两条支路在投影融合节点汇合。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50_智能驾驶/01_基础概念/LiDAR 输出与 ROI 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roi_cluster_fusion 的核心是把三维点簇投影到图像平面，再与相机检测器产生的二维 ROI 计算重叠。投影需要 LiDAR 到相机的 TF 外参和 CameraInfo 内参。匹配成功后，节点用相机 ROI 的类别更新点簇标签。最容易出错的是外参、内参和时间不同步。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Local note: 50_智能驾驶/01_基础概念/视觉与 LiDAR 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label_based_euclidean_cluster 的输入已经是带语义标签的点云。节点先过滤低置信度点，再按 class_id 分桶，每个类别内部独立聚类，最后估计形状并输出 DetectedObjects。当前官方文档要求完整 PointXYZCPE 字段布局；class_id、probability 和 entropy 不能在接口描述中写成可选。这个节点不直接订阅相机。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50_智能驾驶/01_基础概念/视觉与 LiDAR 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这两个模块容易混淆，是因为最终都能形成三维目标。区别在于 roi_cluster_fusion 直接使用相机 ROI，把语义加到已经形成的点簇上；label-based cluster 接收的点本身已经带 class_id，只在同类别内部做空间聚类。官方资料没有证明它们必须按箭头串联。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50_智能驾驶/01_基础概念/视觉与 LiDAR 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50_智能驾驶/01_基础概念/四个 LiDAR 包的接口与关系.md</a:t>
            </a:r>
          </a:p>
          <a:p xmlns:a="http://schemas.openxmlformats.org/drawingml/2006/main">
            <a:r>
              <a:t>- Local note: 50_智能驾驶/01_基础概念/LiDAR 输出与 ROI 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备用页。若老师追问内部流程，可以按 Pre-Process、Fusion Process、Post-Process 三段解释：先筛选候选点簇，再做包含或 IoU 判断，最后过滤未知或噪声点簇并输出。第一遍不需要逐项讲参数。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备用页。不同相机 ROI 和三维消息通常不会同时到达。官方实现根据时间戳和偏移量把匹配消息放进 Collector，收齐所需输入或等待超时后再执行融合并发布。这说明时间匹配是融合节点实现的一部分。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e71cf9c9f45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236f98aff24bf6" /><Relationship Type="http://schemas.openxmlformats.org/officeDocument/2006/relationships/slideLayout" Target="/ppt/slideLayouts/slideLayout1.xml" Id="Ra00f9d2f3c2544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f9d2f3c2544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8025fb2f34085" /><Relationship Type="http://schemas.openxmlformats.org/officeDocument/2006/relationships/notesSlide" Target="/ppt/notesSlides/notesSlide1.xml" Id="R0958bd348d65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9cbde8d294973" /><Relationship Type="http://schemas.openxmlformats.org/officeDocument/2006/relationships/notesSlide" Target="/ppt/notesSlides/notesSlide2.xml" Id="Rb5197cb36ddc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4382532b243ba" /><Relationship Type="http://schemas.openxmlformats.org/officeDocument/2006/relationships/image" Target="/ppt/media/image.png" Id="R4f5febf8b78446aa" /><Relationship Type="http://schemas.openxmlformats.org/officeDocument/2006/relationships/image" Target="/ppt/media/image2.png" Id="R00abd2e52f4248de" /><Relationship Type="http://schemas.openxmlformats.org/officeDocument/2006/relationships/notesSlide" Target="/ppt/notesSlides/notesSlide3.xml" Id="R034f5e460f6247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93f33691b47cb" /><Relationship Type="http://schemas.openxmlformats.org/officeDocument/2006/relationships/image" Target="/ppt/media/image3.png" Id="Rbba9a13b8d8c4f9f" /><Relationship Type="http://schemas.openxmlformats.org/officeDocument/2006/relationships/notesSlide" Target="/ppt/notesSlides/notesSlide4.xml" Id="Rda619dff20a047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353b82b874d0e" /><Relationship Type="http://schemas.openxmlformats.org/officeDocument/2006/relationships/image" Target="/ppt/media/image4.png" Id="Rbcf7f51bbc624682" /><Relationship Type="http://schemas.openxmlformats.org/officeDocument/2006/relationships/notesSlide" Target="/ppt/notesSlides/notesSlide5.xml" Id="Rb70584f4646a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6395ea2f04294" /><Relationship Type="http://schemas.openxmlformats.org/officeDocument/2006/relationships/notesSlide" Target="/ppt/notesSlides/notesSlide6.xml" Id="R1b19d16dd66945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af18c06b84173" /><Relationship Type="http://schemas.openxmlformats.org/officeDocument/2006/relationships/notesSlide" Target="/ppt/notesSlides/notesSlide7.xml" Id="Raeead2e6c76e47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22994486457c" /><Relationship Type="http://schemas.openxmlformats.org/officeDocument/2006/relationships/notesSlide" Target="/ppt/notesSlides/notesSlide8.xml" Id="Rab01ad2adf594f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4b11b124f4d56" /><Relationship Type="http://schemas.openxmlformats.org/officeDocument/2006/relationships/image" Target="/ppt/media/image5.png" Id="Rf2443a451eaa4256" /><Relationship Type="http://schemas.openxmlformats.org/officeDocument/2006/relationships/notesSlide" Target="/ppt/notesSlides/notesSlide9.xml" Id="R2aa7aefbdd3e4d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5261f4eda48ef" /><Relationship Type="http://schemas.openxmlformats.org/officeDocument/2006/relationships/image" Target="/ppt/media/image6.png" Id="R8c38164a5d1840ca" /><Relationship Type="http://schemas.openxmlformats.org/officeDocument/2006/relationships/notesSlide" Target="/ppt/notesSlides/notesSlide10.xml" Id="R56f5c98bbdb240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6B97C-7A0D-4E0C-BD8B-B3310AE9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3BFEA-E117-4FB3-9440-7D1629E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E48329-8163-4A51-9613-5D2975F3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Autoware 视觉—LiDAR 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A8B7E-3A7C-49B0-99F7-E31B175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 LiDAR 输出层级到 ROI 投影匹配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4F473-49C6-4ACB-A415-0997533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143250" cy="33718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F030E-FA3B-4D2E-ADB7-9FAE560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ED83A-C9FD-45E1-871D-0396E06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类别与语义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958D-3460-4883-A5EB-BE40312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0401-12D6-4F14-8900-141AC15F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0A5D5-157D-4649-913E-8DD0E9C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04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3D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位置与形状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A90B8-E157-46C0-9FC9-4FE984F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713DA-7DE1-4C1E-A5A7-7BF4216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13369-CBCD-43E8-9DE5-E748C42B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确认同一目标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30720-B7A7-4E8B-93BE-0C13ED8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87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2DFBD-9789-4A64-92CA-2314A73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基于官方架构与接口文档梳理｜当前尚未运行 Autoware、rosbag 或融合节点</a:t>
            </a:r>
          </a:p>
        </p:txBody>
      </p:sp>
    </p:spTree>
    <p:extLst>
      <p:ext uri="{BB962C8B-B14F-4D97-AF65-F5344CB8AC3E}">
        <p14:creationId xmlns:p14="http://schemas.microsoft.com/office/powerpoint/2010/main" val="789166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AF857C22-0D55-44B9-A17F-0667AC5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WHY FUSION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ECEDF28-F9C7-4C9A-92C2-16E356F5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相机给语义，LiDAR 给三维几何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AA43F-8071-4DF9-86E7-0FFBF8E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879D7-3C61-4FAC-92C0-A67FCE4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CD025-C82F-4ECF-ADC0-BDF730E8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9A132-5CD6-4D47-A6FB-F08D5638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两类传感器观察同一世界，但回答的问题不同。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CE47E-54D7-4ABE-B725-CA7607F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E798F-100A-4F57-93F3-6AE8096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8FDA8-0FE6-403B-840B-87BFA79B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相机：是什么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64780-8E87-4553-A12E-801320EF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车辆、行人等类别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颜色、标志与纹理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单目深度和尺度不稳定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EA651-B332-466B-85FB-25E8CA9C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DBD38-F6A2-490B-AED6-1C88018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A1DA5-408A-4ACA-97C3-3E11DBE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4814B-394F-43A0-84DA-27F951A1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LiDAR：在哪里、多大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9DD9A-E7CC-4B8D-B580-1BF93CC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距离、位置与轮廓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直接形成三维点云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原始点的类别信息较弱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BE275-01A5-49D3-832C-C7A1237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47900" cy="26670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1171F-FEB9-4FCB-8247-F4E34D00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E2D3A-98CC-4402-AB7F-10379C4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是不是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同一个目标？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F4D6E-E065-489C-A74D-8755E4B1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25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BEDE5-7E3F-4DB0-A3CF-89547A1B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相机补类别，LiDAR 补三维，融合节点确认两边描述的是同一目标。</a:t>
            </a:r>
          </a:p>
        </p:txBody>
      </p:sp>
    </p:spTree>
    <p:extLst>
      <p:ext uri="{BB962C8B-B14F-4D97-AF65-F5344CB8AC3E}">
        <p14:creationId xmlns:p14="http://schemas.microsoft.com/office/powerpoint/2010/main" val="1604071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F27DBC48-673E-454F-91FA-15C3CDA7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LIDAR OUTPUT LEVELS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5FA7AA5-C3B1-43FA-ACDB-DEB2625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四个 LiDAR 包并行工作，输出层级不同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CDB3F-CC5D-4207-947B-A66C9940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FAF7A-B79C-439B-896D-76F28BE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76EC-32FC-4814-A935-B6805D08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3EE0B-727B-4ADF-8453-5ACBBECB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共同输入是 PointCloud2，但结果可能停在“点、点簇或目标”。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91D9D-AEB2-4261-891E-FFFE366F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逐点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34FF8-89B3-43FE-B150-F7C111E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90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C0476-77B4-45A2-8BC9-5F5249E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09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D115F-4B99-43BB-AACE-DE169E86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90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语义 PointCloud2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06B20-512B-4C8F-A4A8-9F06A5A0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点簇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D52AC-3238-4AAA-97A3-8629B5A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241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FF61F-2358-448C-84C2-7145515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43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D281F-8BF8-447C-A81C-C592088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242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DetectedObjectsWithFeature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F8CAE-8D27-4C5F-9DE0-F6849D2A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28761-117D-45D8-9BBB-BF8BBC43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A8DD0-1FF5-45E4-A772-E059B4E2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76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45DA4-6007-49B7-AFCD-89DE5A8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576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C12C4-E6C9-432C-9737-8911DA3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B5D76-FB67-460F-9663-74221AF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910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A18FC-0BA3-4473-A710-486AECD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4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 TransFusion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077F0-89B4-402D-A857-F0FC070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79260-FCD7-406A-B9D2-17C85A7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3752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0E201-A1BC-439E-823E-57CE7101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结论：它们不是必须依次串联的四个步骤。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46DD8-09FC-465C-AC66-624AF95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31051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febf8b78446aa"/>
          <a:srcRect xmlns:a="http://schemas.openxmlformats.org/drawingml/2006/main" l="13140" t="0" r="13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1771650"/>
            <a:ext cx="2914650" cy="215265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A0928-77AE-457F-9135-956430BA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Apollo：保留实例点簇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1AC54-4896-426D-A349-114476F1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6576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bd2e52f4248de"/>
          <a:stretch xmlns:a="http://schemas.openxmlformats.org/drawingml/2006/main"/>
        </p:blipFill>
        <p:spPr>
          <a:xfrm xmlns:a="http://schemas.openxmlformats.org/drawingml/2006/main">
            <a:off x="8096250" y="2255927"/>
            <a:ext cx="3467100" cy="1184096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585E0-8F15-4F9C-9822-63B440BE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CenterPoint：直接得到 3D 框与分数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14593-1C60-491A-8D73-0A0AF6D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702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Apollo Instance Segmentation；CenterPoint 作者官方仓库（均非本地实验结果）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1EEF3A-23C1-44AF-A20C-6204A2F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33950"/>
            <a:ext cx="70294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B1E34-2AC4-4992-9C1E-1636992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接口判断优先级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3A54B-6FCA-4F0F-B1F7-33C4BEF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先看 Topic 与消息类型，再看算法名称和论文模型图。</a:t>
            </a:r>
          </a:p>
        </p:txBody>
      </p:sp>
    </p:spTree>
    <p:extLst>
      <p:ext uri="{BB962C8B-B14F-4D97-AF65-F5344CB8AC3E}">
        <p14:creationId xmlns:p14="http://schemas.microsoft.com/office/powerpoint/2010/main" val="1858484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F7D5F79D-0E96-4498-9C9C-11D147B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INTERFACE ROUTING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B8BF8D2-67D8-4B66-B662-BF700CD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输出消息类型决定应该接哪个融合节点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45A2A-2576-476C-A290-8CBD2C0F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4CC36-0469-4FC8-88B6-EFECDBB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4052A-8711-41FC-9D99-FFCE669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4BB5-185A-443C-B71D-6179936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C2539-7464-428B-82A6-8DC2CA80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5095-49AF-4678-8914-9F95442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DetectedObjectsWithFeature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714D0-BAEA-4A0F-A3C8-2B131135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→  roi_cluster_fusion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C3B7-F783-4D1F-8922-003F22D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671A4-81C1-4606-AAAD-2080262B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 / LiDAR TransFusion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62312-051E-43ED-B6AC-573EFD86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5517-751C-4B53-9D97-F50FDDF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→  roi_detected_object_fusion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BEB79-7DC6-4E37-BFD2-792E6F8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80A37-F551-430D-887C-D273771A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7C724-1412-4686-A7B5-4DAA13D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语义 PointCloud2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9EFAA-BA08-4EE0-805B-960B4302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→  先形成点簇或目标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A0498-093B-4794-84D4-DA7E64D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3695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81A92-8F91-44E2-810C-4F91418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不能因为两边都叫 PointCloud2，就默认字段布局兼容。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34774-869A-4F9D-92B5-ED5D92A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90650"/>
            <a:ext cx="702945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9a13b8d8c4f9f"/>
          <a:stretch xmlns:a="http://schemas.openxmlformats.org/drawingml/2006/main"/>
        </p:blipFill>
        <p:spPr>
          <a:xfrm xmlns:a="http://schemas.openxmlformats.org/drawingml/2006/main">
            <a:off x="5785392" y="1485900"/>
            <a:ext cx="4716966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5703B-33AB-488C-AB4D-98C82FD4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721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官方参考架构：LiDAR clustering 与 Camera 2D detector 在投影融合节点汇合</a:t>
            </a:r>
          </a:p>
        </p:txBody>
      </p:sp>
    </p:spTree>
    <p:extLst>
      <p:ext uri="{BB962C8B-B14F-4D97-AF65-F5344CB8AC3E}">
        <p14:creationId xmlns:p14="http://schemas.microsoft.com/office/powerpoint/2010/main" val="979577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2A988A2D-6969-40FF-899F-5574920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PROJECTION-BASED FUSION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9C84D7A-5503-436E-BB41-49B5FB9E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fusion：3D 点簇如何匹配 2D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B0741-9C96-4CC8-9015-8ACD9AA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7C4F1-3898-4B8C-8EAF-8045B74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8377-DF4B-4FC5-A589-A1C83EFA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6F170-9E94-4694-A920-B4D3CFE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1912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7f51bbc624682"/>
          <a:stretch xmlns:a="http://schemas.openxmlformats.org/drawingml/2006/main"/>
        </p:blipFill>
        <p:spPr>
          <a:xfrm xmlns:a="http://schemas.openxmlformats.org/drawingml/2006/main">
            <a:off x="916330" y="1619250"/>
            <a:ext cx="5425391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17E0E-FF84-45CF-8F9C-5B6B280D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官方文档；虚线框是点簇投影，红框是相机检测 ROI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BDD3C-9E0E-4BCB-BE2F-8E50B331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74081-D14F-45D7-8CD2-A86CF8C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85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910F-BCC8-4802-8FE0-0BE0DC9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B3F0A-70DE-4923-B03F-4444C844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+ CameraInfo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D89E7-D04F-4354-A863-AC1B7421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959F6-0F69-4E11-859A-03567ED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ADB3D-D15D-46B1-9E2B-374C37F0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几何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FE7A4-A951-4DEA-9104-3D54F4E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TF 外参转换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相机内参投影到像素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B3BB-59E8-47FB-8B27-E988787D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F1DB3-B218-42A3-B490-516F3A9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90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DD6A3-758A-4851-A433-D165798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05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AEC6C-F35C-4270-AECE-BC73AB2E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比较投影框与检测框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计算 IoU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FF544-ADAC-4EE2-B989-3F31886E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207C4-B88B-4895-92BD-498DC9DE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43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615BE-A810-4CD0-80EA-2EA0F4D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F486A-29D6-4A23-AE9E-2213275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用相机类别更新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65A80-07AE-458B-88ED-537845C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24500"/>
            <a:ext cx="4038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F65BA-3D00-4E5B-B708-74DBE5A2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易错点：外参/TF 偏差｜CameraInfo 错误｜图像与点云时间不同步</a:t>
            </a:r>
          </a:p>
        </p:txBody>
      </p:sp>
    </p:spTree>
    <p:extLst>
      <p:ext uri="{BB962C8B-B14F-4D97-AF65-F5344CB8AC3E}">
        <p14:creationId xmlns:p14="http://schemas.microsoft.com/office/powerpoint/2010/main" val="175869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6-eyebrow">
            <a:extLst xmlns:a="http://schemas.openxmlformats.org/drawingml/2006/main">
              <a:ext uri="{FF2B5EF4-FFF2-40B4-BE49-F238E27FC236}">
                <a16:creationId xmlns:a16="http://schemas.microsoft.com/office/drawing/2014/main" id="{373DB322-65A0-4632-932F-713F394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SEMANTIC POINT CLOUD CLUSTERING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6F2125D-B633-42C4-A82B-F2BEAD79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聚类不直接使用相机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0DA65-590A-4401-BAF8-577776B8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8FAAA-3F1B-4DDE-9A59-CDFC8F9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4BE4A-FF94-464F-8042-F6EED33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64E20-B35B-49DE-81FA-E17170F3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节点只订阅一份 PointCloud2；图像、CameraInfo 和 2D ROI 都不是它的直接输入。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A46D2-27E6-4A35-99F1-05DB3CF9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AB8CB-01EF-43C9-92AE-93B13F7E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9222-477B-428A-8EE2-3F4E36A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输入点云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0E447-F6DA-4536-B6D6-AD9A6BE0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PointXYZCPE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语义点云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3B252-FA9D-4BA7-9680-404D27C6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2B8A9-E1C5-4CC5-9E36-0B93C83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6B550-08B5-43BC-80DA-6636E2D2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CDA7A-B9F5-4A3B-88AD-33626DC3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置信度过滤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12289-5B40-4683-A8F0-2E66ACA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min_probability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的点被过滤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30A56-5D1C-4FDB-A2DC-455CFF7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8C852-FEB9-4728-BF48-21AF67B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93895-D887-4DEE-8DAE-6834912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2A53A-39E3-4BC3-813E-9294190A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按标签分桶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F176B-5E66-45B5-BFD4-8BA60DE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 class_id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进入不同类别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1DF49-E1A3-44A8-BB40-9A0D7C1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26EEC-E3D5-4856-8B6D-FBEE8BA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C807A-EFCB-4A61-B541-E1059C9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A4AAD-A821-4EF5-9943-2750A2E7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每类独立聚类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4AEAD-CF86-41EC-BDB9-C097CF12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按空间距离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形成点簇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09C14-2BA9-43A1-A673-AE5CC360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5FEE9-08A5-4A6E-B454-95083B7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ACC2B-4914-4716-BAB8-CBB3F74B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21E25-B151-4675-85C7-9D475A5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形状与输出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C2539-1E38-487E-AC64-08C01F2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ShapeEstimator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位置 / 姿态 / 形状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→ DetectedObjects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15BE4-F1A5-4314-A8A2-0A0A224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3ED31-416A-4E35-8392-2E39BD7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完整输入布局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9E231-E9E2-4FE7-BBEA-241844F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x   y   z   class_id   probability   entropy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75F39-F31E-4187-BCA5-7D19C12E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62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其他布局会被拒绝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9F5C0-CFD2-4278-B515-4B54628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F8A72-FD91-41B4-B040-247F2E07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边界：它做空间聚类，不做跨帧跟踪；上游语义错误会直接影响输出。</a:t>
            </a:r>
          </a:p>
        </p:txBody>
      </p:sp>
    </p:spTree>
    <p:extLst>
      <p:ext uri="{BB962C8B-B14F-4D97-AF65-F5344CB8AC3E}">
        <p14:creationId xmlns:p14="http://schemas.microsoft.com/office/powerpoint/2010/main" val="1265498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185DA335-9F9B-48A9-A29B-B51EE972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DO NOT CONFLATE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ED9008B-BC1B-4014-B0FB-56E9F042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两个模块相关，但不是同一个节点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6EF3-FB49-4FAC-9546-9036E115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558A-3C72-408E-8F9D-E67CF9C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40A49-BB52-4161-8814-DAFE34B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389BA-7549-4303-BDD1-F48B4D4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它们都能把点云变成可用于检测的 3D 结果，但语义加入的位置不同。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7DFAE-E381-4D89-A06B-499E1B2E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DB1C0-CD1C-42DE-9FC3-6A7715F9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CAC3C-F804-49F3-9CBB-BB30FF9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融合节点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88ECD-0172-4707-A194-F52EAB1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6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B1B5-DB80-4172-8E35-24B11D3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cluster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95286-7FC6-49A8-B39C-F346FE4D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383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聚类节点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63D56-1C3F-462E-B9BB-AAE0721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3759C-7708-4E84-A484-1701E971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 + CameraInfo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C7EBE-169E-4252-9F8C-1DC2F0B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14147-DA3D-457D-ADF2-E8DA25FA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 class_id 的 PointXYZCPE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6283C-1262-40D8-BB6D-994E6CD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21164-C35E-4F71-897C-18F3C49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32DE9-9E54-43B2-9C26-66B8FCD9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D26DC-4F52-4B5B-A30F-C1EDED23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 2D 检测器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810A9-BB3B-487E-B25B-A9B6458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83164-251D-442C-A9CE-7ED33FB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上游语义点云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142F4-4774-4583-B41C-9FB20BEA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0A8E1-6112-4593-AD97-D8E5EAAD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8CAAE-CC4B-42CD-8569-B7328D41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F438D-B312-4CA8-A627-4C7F6457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8B8FA-F675-429D-A5F6-E6D01C9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17049-86EA-42A0-AE5F-5717F6C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9621B-EB91-433D-8CDF-9958466C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2D8AB-93DE-4060-B0D9-1F3C868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F16ECB-83DF-443D-8D12-F424F5B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B0B8E-9BA0-437A-8513-7E6E8FC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3D→2D 投影 + IoU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97883A-9BAE-498B-BB51-2EB6961B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20C57-EC89-446C-B5A2-0A8A1268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同类别内部空间聚类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2106C-CFED-4A0D-A9C9-3E3046C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CC42F-C8A5-4956-AE35-388B675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06863-160B-40EA-AA1B-D70DA98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189A20-29C0-46E3-B7B5-3E15B225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带类别的 3D cluster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D99CF-087E-486F-BB97-6DAF9E20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443B71-9625-4555-9D86-710E2F1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90C094-E525-4B96-9832-946D416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03DCF8-4FD6-430B-B6CF-1074C0E4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B1B7C2-3B03-4BF5-8351-528AF30A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70C9D-A425-40A9-BBC9-269BAF0B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不能未经验证画成：roi_cluster_fusion → label_based_euclidean_cluster（官方资料没有证明这是默认流水线）</a:t>
            </a:r>
          </a:p>
        </p:txBody>
      </p:sp>
    </p:spTree>
    <p:extLst>
      <p:ext uri="{BB962C8B-B14F-4D97-AF65-F5344CB8AC3E}">
        <p14:creationId xmlns:p14="http://schemas.microsoft.com/office/powerpoint/2010/main" val="230196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8-eyebrow">
            <a:extLst xmlns:a="http://schemas.openxmlformats.org/drawingml/2006/main">
              <a:ext uri="{FF2B5EF4-FFF2-40B4-BE49-F238E27FC236}">
                <a16:creationId xmlns:a16="http://schemas.microsoft.com/office/drawing/2014/main" id="{C21E1352-F422-4FA4-B621-F445358E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CURRENT STATE → NEXT EVIDENCE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566CE37-ACC5-442B-9CC5-62D34D0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当前完成了架构理解，下一步补真实验证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5C0C5-BA6F-432B-9723-55094648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291F8-96A9-467B-B5FC-DCF1A494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35EA9-749F-41B8-9A96-97C52280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C79A6-3978-48EB-B114-4ADE9082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B857D-F724-4377-87F0-5D8CCEF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FFAAA-B89B-443F-8C6B-D3A512B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3AEEB-CB15-4330-A793-C099E40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感知架构中的融合位置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45F24-769C-473F-9EF3-91622DF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BC048-9C87-4DC2-BAF1-E899225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四个 LiDAR 包的输出层级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C301-95F0-4505-8CE8-58CD3A1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7F893-1E18-4A52-B333-6C66B37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不同输出对应的融合分支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EB0EC-AEF4-47B0-B537-18B9CBE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22C89-CD53-406A-B374-8976DE76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与 label-based 的边界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320C9-D7F1-4809-8EA4-9A132FA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AF551-8763-4370-842B-AAD6EB6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97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14381-F2F0-45D7-A344-169C3B2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B59B4-0E5F-4334-A301-7FD39F9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组内工程实际启用的包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A60D8-41AD-49DD-87C2-BE13AFA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ECA24-CACD-4B26-8948-CA344312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launch / remapping 与 Topic 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596A8-2216-483C-9DF6-B3761A4F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BB0A8-CFA1-4917-AEF5-314DAB58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相机—LiDAR TF 和时间戳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0C7D6-DD32-4427-8C4F-071D9387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F6D1A-F5EF-4BA2-A69D-06689801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rosbag 中的真实数据流与输出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BBBDE-2120-4981-A00A-ECF99C46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3F2DE-7686-435B-AA7C-21F69642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先根据接口识别数据层级，再决定融合方式。</a:t>
            </a:r>
          </a:p>
        </p:txBody>
      </p:sp>
    </p:spTree>
    <p:extLst>
      <p:ext uri="{BB962C8B-B14F-4D97-AF65-F5344CB8AC3E}">
        <p14:creationId xmlns:p14="http://schemas.microsoft.com/office/powerpoint/2010/main" val="1009621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9-eyebrow">
            <a:extLst xmlns:a="http://schemas.openxmlformats.org/drawingml/2006/main">
              <a:ext uri="{FF2B5EF4-FFF2-40B4-BE49-F238E27FC236}">
                <a16:creationId xmlns:a16="http://schemas.microsoft.com/office/drawing/2014/main" id="{943CE9AA-BD4C-4BAF-B54E-A462B181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ALGORITHM DETAIL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78B20CB-0077-44A2-A6DA-4894E981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备用｜ROI cluster fusion 官方内部流程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8792D-9AF1-4E27-BBA2-8A01371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C0F89-104E-448E-A3DC-E1F7597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FF57E-EC3A-4044-B972-D6912256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3369-F156-47B4-BC26-ACC29A3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43a451eaa4256"/>
          <a:stretch xmlns:a="http://schemas.openxmlformats.org/drawingml/2006/main"/>
        </p:blipFill>
        <p:spPr>
          <a:xfrm xmlns:a="http://schemas.openxmlformats.org/drawingml/2006/main">
            <a:off x="2200990" y="1390650"/>
            <a:ext cx="779002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15026-E39A-4DE8-B849-DA657B3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官方文档；正常汇报不展开参数分支，仅在追问时使用</a:t>
            </a:r>
          </a:p>
        </p:txBody>
      </p:sp>
    </p:spTree>
    <p:extLst>
      <p:ext uri="{BB962C8B-B14F-4D97-AF65-F5344CB8AC3E}">
        <p14:creationId xmlns:p14="http://schemas.microsoft.com/office/powerpoint/2010/main" val="316242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0-eyebrow">
            <a:extLst xmlns:a="http://schemas.openxmlformats.org/drawingml/2006/main">
              <a:ext uri="{FF2B5EF4-FFF2-40B4-BE49-F238E27FC236}">
                <a16:creationId xmlns:a16="http://schemas.microsoft.com/office/drawing/2014/main" id="{05BC27C7-C1BB-41C1-8E9A-C686F607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TEMPORAL ALIGNMENT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F3D88AE-20C4-4558-BBE4-77414CD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备用｜多路消息如何按时间收集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01422-F229-4DE9-B4A0-42D09644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A3F0C-7DD4-4397-A4C3-D020E26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92AFD-0F44-433C-BC84-98ED864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1C83C-C8D2-4A8A-B0FB-B91BDAD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52475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8164a5d1840ca"/>
          <a:stretch xmlns:a="http://schemas.openxmlformats.org/drawingml/2006/main"/>
        </p:blipFill>
        <p:spPr>
          <a:xfrm xmlns:a="http://schemas.openxmlformats.org/drawingml/2006/main">
            <a:off x="759343" y="1524000"/>
            <a:ext cx="7072864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3A6E0-D09C-4826-A3FC-459352A8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Image Projection Based Fusion 官方文档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15EDE-1178-494C-B770-095C5B0C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Collector 的作用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0C62C-6C02-474E-908F-B2481028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00E9A-7D3E-41E5-940B-EAF816B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以参考时间戳创建收集器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EC653-C160-4119-A2C5-A2E975B1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比较各路 ROI 与 3D 消息的时间差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322D5-7D88-4729-B4BB-38BEE08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输入收齐或等待超时后再融合发布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78171-862A-4406-86A1-017494F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89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BCCC2-BDCD-4397-AD02-80E11871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时间匹配不是附加步骤，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而是融合实现的一部分。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74683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2026-08-04T06:34:11.0910000Z</dcterms:created>
  <dcterms:modified xsi:type="dcterms:W3CDTF">2026-08-04T06:34:11.0910000Z</dcterms:modified>
</coreProperties>
</file>