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1cc4522bc64d6b" /><Relationship Type="http://schemas.openxmlformats.org/officeDocument/2006/relationships/extended-properties" Target="/docProps/app.xml" Id="R216719e4150e44d6" /><Relationship Type="http://schemas.openxmlformats.org/officeDocument/2006/relationships/officeDocument" Target="/ppt/presentation.xml" Id="R0aab1a05e93a44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1160901677470f"/>
  </p:sldMasterIdLst>
  <p:notesMasterIdLst>
    <p:notesMasterId xmlns:r="http://schemas.openxmlformats.org/officeDocument/2006/relationships" r:id="R8e4bef5f7b8b4cfa"/>
  </p:notesMasterIdLst>
  <p:sldIdLst>
    <p:sldId xmlns:r="http://schemas.openxmlformats.org/officeDocument/2006/relationships" id="256" r:id="R11723a07a55642fe"/>
    <p:sldId xmlns:r="http://schemas.openxmlformats.org/officeDocument/2006/relationships" id="257" r:id="R1b55c62870834576"/>
    <p:sldId xmlns:r="http://schemas.openxmlformats.org/officeDocument/2006/relationships" id="258" r:id="R9946b6488ed64f35"/>
    <p:sldId xmlns:r="http://schemas.openxmlformats.org/officeDocument/2006/relationships" id="259" r:id="Raacd7cc3fd0a4299"/>
    <p:sldId xmlns:r="http://schemas.openxmlformats.org/officeDocument/2006/relationships" id="260" r:id="R2f50bd47a1894119"/>
    <p:sldId xmlns:r="http://schemas.openxmlformats.org/officeDocument/2006/relationships" id="261" r:id="Rc689501362664dbf"/>
    <p:sldId xmlns:r="http://schemas.openxmlformats.org/officeDocument/2006/relationships" id="262" r:id="R8541746f1e7c45d9"/>
    <p:sldId xmlns:r="http://schemas.openxmlformats.org/officeDocument/2006/relationships" id="263" r:id="Re5c1250981474bae"/>
    <p:sldId xmlns:r="http://schemas.openxmlformats.org/officeDocument/2006/relationships" id="264" r:id="Rf9041d9f934b44e3"/>
    <p:sldId xmlns:r="http://schemas.openxmlformats.org/officeDocument/2006/relationships" id="265" r:id="Rf5bc2251942947e9"/>
    <p:sldId xmlns:r="http://schemas.openxmlformats.org/officeDocument/2006/relationships" id="266" r:id="Re6ee37edd51e4f0a"/>
    <p:sldId xmlns:r="http://schemas.openxmlformats.org/officeDocument/2006/relationships" id="267" r:id="R3bfeaf78024042f1"/>
    <p:sldId xmlns:r="http://schemas.openxmlformats.org/officeDocument/2006/relationships" id="268" r:id="R09d47c38112347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ebb0e380e44cf4" /><Relationship Type="http://schemas.openxmlformats.org/officeDocument/2006/relationships/slideMaster" Target="/ppt/slideMasters/slideMaster1.xml" Id="R021160901677470f" /><Relationship Type="http://schemas.openxmlformats.org/officeDocument/2006/relationships/notesMaster" Target="/ppt/notesMasters/notesMaster1.xml" Id="R8e4bef5f7b8b4cfa" /><Relationship Type="http://schemas.openxmlformats.org/officeDocument/2006/relationships/presProps" Target="/ppt/presProps.xml" Id="R789a127b10c1485d" /><Relationship Type="http://schemas.openxmlformats.org/officeDocument/2006/relationships/tableStyles" Target="/ppt/tableStyles.xml" Id="R5d9a2c0c6a5e4cdd" /><Relationship Type="http://schemas.openxmlformats.org/officeDocument/2006/relationships/slide" Target="/ppt/slides/slide1.xml" Id="R11723a07a55642fe" /><Relationship Type="http://schemas.openxmlformats.org/officeDocument/2006/relationships/slide" Target="/ppt/slides/slide2.xml" Id="R1b55c62870834576" /><Relationship Type="http://schemas.openxmlformats.org/officeDocument/2006/relationships/slide" Target="/ppt/slides/slide3.xml" Id="R9946b6488ed64f35" /><Relationship Type="http://schemas.openxmlformats.org/officeDocument/2006/relationships/slide" Target="/ppt/slides/slide4.xml" Id="Raacd7cc3fd0a4299" /><Relationship Type="http://schemas.openxmlformats.org/officeDocument/2006/relationships/slide" Target="/ppt/slides/slide5.xml" Id="R2f50bd47a1894119" /><Relationship Type="http://schemas.openxmlformats.org/officeDocument/2006/relationships/slide" Target="/ppt/slides/slide6.xml" Id="Rc689501362664dbf" /><Relationship Type="http://schemas.openxmlformats.org/officeDocument/2006/relationships/slide" Target="/ppt/slides/slide7.xml" Id="R8541746f1e7c45d9" /><Relationship Type="http://schemas.openxmlformats.org/officeDocument/2006/relationships/slide" Target="/ppt/slides/slide8.xml" Id="Re5c1250981474bae" /><Relationship Type="http://schemas.openxmlformats.org/officeDocument/2006/relationships/slide" Target="/ppt/slides/slide9.xml" Id="Rf9041d9f934b44e3" /><Relationship Type="http://schemas.openxmlformats.org/officeDocument/2006/relationships/slide" Target="/ppt/slides/slide10.xml" Id="Rf5bc2251942947e9" /><Relationship Type="http://schemas.openxmlformats.org/officeDocument/2006/relationships/slide" Target="/ppt/slides/slide11.xml" Id="Re6ee37edd51e4f0a" /><Relationship Type="http://schemas.openxmlformats.org/officeDocument/2006/relationships/slide" Target="/ppt/slides/slide12.xml" Id="R3bfeaf78024042f1" /><Relationship Type="http://schemas.openxmlformats.org/officeDocument/2006/relationships/slide" Target="/ppt/slides/slide13.xml" Id="R09d47c38112347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ebef463b964f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9426ada1bd47e5" /><Relationship Type="http://schemas.openxmlformats.org/officeDocument/2006/relationships/notesMaster" Target="/ppt/notesMasters/notesMaster1.xml" Id="Rc0c5a86daaac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a765f31a4a4e0b" /><Relationship Type="http://schemas.openxmlformats.org/officeDocument/2006/relationships/notesMaster" Target="/ppt/notesMasters/notesMaster1.xml" Id="R99c66e84a4f64e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357124166e4de5" /><Relationship Type="http://schemas.openxmlformats.org/officeDocument/2006/relationships/notesMaster" Target="/ppt/notesMasters/notesMaster1.xml" Id="R2edfd711b67243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acf490172a4092" /><Relationship Type="http://schemas.openxmlformats.org/officeDocument/2006/relationships/notesMaster" Target="/ppt/notesMasters/notesMaster1.xml" Id="Ra239fab3bab74f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9f1c05f0b34ea9" /><Relationship Type="http://schemas.openxmlformats.org/officeDocument/2006/relationships/notesMaster" Target="/ppt/notesMasters/notesMaster1.xml" Id="Rda92f684778a43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cf451a029a4039" /><Relationship Type="http://schemas.openxmlformats.org/officeDocument/2006/relationships/notesMaster" Target="/ppt/notesMasters/notesMaster1.xml" Id="R76484fe2fa3c4e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aa163c965c4284" /><Relationship Type="http://schemas.openxmlformats.org/officeDocument/2006/relationships/notesMaster" Target="/ppt/notesMasters/notesMaster1.xml" Id="R35c05cbf8f3d45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cb44339f8c4560" /><Relationship Type="http://schemas.openxmlformats.org/officeDocument/2006/relationships/notesMaster" Target="/ppt/notesMasters/notesMaster1.xml" Id="Re8afe4cea2cd45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611fb354cd440c" /><Relationship Type="http://schemas.openxmlformats.org/officeDocument/2006/relationships/notesMaster" Target="/ppt/notesMasters/notesMaster1.xml" Id="R1b6de7164ac243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79e2d14cab4915" /><Relationship Type="http://schemas.openxmlformats.org/officeDocument/2006/relationships/notesMaster" Target="/ppt/notesMasters/notesMaster1.xml" Id="R1c67b87524264a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3a00e89e934c31" /><Relationship Type="http://schemas.openxmlformats.org/officeDocument/2006/relationships/notesMaster" Target="/ppt/notesMasters/notesMaster1.xml" Id="Rd2042151af3b4b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edad6056ee464f" /><Relationship Type="http://schemas.openxmlformats.org/officeDocument/2006/relationships/notesMaster" Target="/ppt/notesMasters/notesMaster1.xml" Id="Rb5f9100f513e45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2516e7bb0f4406" /><Relationship Type="http://schemas.openxmlformats.org/officeDocument/2006/relationships/notesMaster" Target="/ppt/notesMasters/notesMaster1.xml" Id="R6764e2bd472f44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开场先说明本周汇报范围：我完成的是 Autoware 视觉—LiDAR 融合架构和接口的文档梳理，重点是理解不同 LiDAR 输出怎样进入投影融合。当前没有把官方示意图或文档结论当成本地实验结果。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note: 50_智能驾驶/01_基础概念/04_相机—LiDAR 投影融合.md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这一页只讲直觉。相机擅长识别类别和纹理，LiDAR 擅长测量三维位置和形状。融合不是简单把两份数据叠起来，而是要判断相机中的二维目标与 LiDAR 中的三维目标是不是同一个物体。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note: 50_智能驾驶/01_基础概念/04_相机—LiDAR 投影融合.md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FRNet 的输入是一帧 LiDAR PointCloud2，输出仍然是一帧 PointCloud2。区别是输出中的每个点增加了 class_id、probability 等语义字段。右侧例子只展示字段怎样从原始点扩展为语义点，不代表本地已经测得某个类别或置信度。FRNet 解决的是逐点分类，还没有把同一辆车的点组织成一个独立目标。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https://github.com/autowarefoundation/autoware_universe/tree/main/perception/autoware_lidar_frnet</a:t>
            </a:r>
          </a:p>
          <a:p xmlns:a="http://schemas.openxmlformats.org/drawingml/2006/main"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Apollo Instance Segmentation 同样接收 PointCloud2，但输出已经按实例组织。示意例子中，Object A 除了类别信息，还在 feature.cluster 中保留属于这个目标的点。正因为这些真实点仍在，后续 roi_cluster_fusion 才能把点簇投影到相机图像。这里的 P1、P3 只是数据结构示意，不是本地 rosbag 中的实际点。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https://autowarefoundation.github.io/autoware_universe/main/perception/autoware_lidar_apollo_instance_segmentation/</a:t>
            </a:r>
          </a:p>
          <a:p xmlns:a="http://schemas.openxmlformats.org/drawingml/2006/main"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CenterPoint 的主输入仍是 PointCloud2，但它直接输出 DetectedObjects。一个目标中已经包含类别、置信度、位置、朝向和三维形状，因此输出层级比逐点语义和实例点簇更高。右侧只列出对象结构，不虚构位置或分数。这个接口通常不再要求保留构成目标的原始点簇。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https://autowarefoundation.github.io/autoware_universe/main/perception/autoware_lidar_centerpoint/</a:t>
            </a:r>
          </a:p>
          <a:p xmlns:a="http://schemas.openxmlformats.org/drawingml/2006/main">
            <a:r>
              <a:t>- https://github.com/tianweiy/CenterPoint</a:t>
            </a:r>
          </a:p>
          <a:p xmlns:a="http://schemas.openxmlformats.org/drawingml/2006/main"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这页要特别区分论文模型图和当前 Autoware ROS 2 节点。图中可以看到 Camera 分支，但当前 autoware_lidar_transfusion 文档只声明 PointCloud2 输入和 DetectedObjects 输出。因此汇报时不能根据名字中的 Fusion 就说节点已经接入相机。接口层级上，它与 CenterPoint 一样，都是从 LiDAR 点云直接形成完整三维目标。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https://autowarefoundation.github.io/autoware_universe/main/perception/autoware_lidar_transfusion/</a:t>
            </a:r>
          </a:p>
          <a:p xmlns:a="http://schemas.openxmlformats.org/drawingml/2006/main"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从接口出发，Apollo 保留点簇特征，因此需要相机更新标签时看 roi_cluster_fusion；CenterPoint 和当前 LiDAR TransFusion 已经输出 DetectedObjects，因此看 roi_detected_object_fusion；FRNet 仍是逐点语义点云，需要先形成实例点簇或目标。右侧官方架构图说明两条支路在投影融合节点汇合。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https://autowarefoundation.github.io/autoware_universe/main/perception/autoware_image_projection_based_fusion/docs/roi-detected-object-fusion/</a:t>
            </a:r>
          </a:p>
          <a:p xmlns:a="http://schemas.openxmlformats.org/drawingml/2006/main">
            <a:r>
              <a:t>- Local note: 50_智能驾驶/01_基础概念/03_LiDAR 输出与相机融合接口.md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roi_cluster_fusion 的核心是把三维点簇投影到图像平面，再与相机检测器产生的二维 ROI 计算重叠。投影需要 LiDAR 到相机的 TF 外参和 CameraInfo 内参。匹配成功后，节点用相机 ROI 的类别更新点簇标签。最容易出错的是外参、内参和时间不同步。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Local note: 50_智能驾驶/01_基础概念/04_相机—LiDAR 投影融合.md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label_based_euclidean_cluster 的输入已经是带语义标签的点云。节点先过滤低置信度点，再按 class_id 分桶，每个类别内部独立聚类，最后估计形状并输出 DetectedObjects。当前官方文档要求完整 PointXYZCPE 字段布局；class_id、probability 和 entropy 不能在接口描述中写成可选。这个节点不直接订阅相机。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https://autowarefoundation.github.io/autoware_universe/main/perception/autoware_euclidean_cluster/docs/label-based-euclidean-cluster/</a:t>
            </a:r>
          </a:p>
          <a:p xmlns:a="http://schemas.openxmlformats.org/drawingml/2006/main">
            <a:r>
              <a:t>- Local note: 50_智能驾驶/01_基础概念/04_相机—LiDAR 投影融合.md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这两个模块容易混淆，是因为最终都能形成三维目标。区别在于 roi_cluster_fusion 直接使用相机 ROI，把语义加到已经形成的点簇上；label-based cluster 接收的点本身已经带 class_id，只在同类别内部做空间聚类。官方资料没有证明它们必须按箭头串联。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https://autowarefoundation.github.io/autoware_universe/main/perception/autoware_euclidean_cluster/docs/label-based-euclidean-cluster/</a:t>
            </a:r>
          </a:p>
          <a:p xmlns:a="http://schemas.openxmlformats.org/drawingml/2006/main">
            <a:r>
              <a:t>- Local note: 50_智能驾驶/01_基础概念/04_相机—LiDAR 投影融合.md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本周完成的成果是把架构位置、四个 LiDAR 包、融合分支和两个模块的边界讲清楚。下一步不再扩展更多算法，而是向老师或组员确认实际 launch、Topic 和消息类型，并在拿到 rosbag 后检查 TF、时间戳和真实输出。结论是：先识别接口层级，再决定融合方式。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note: 50_智能驾驶/01_基础概念/02_Autoware LiDAR 感知节点.md</a:t>
            </a:r>
          </a:p>
          <a:p xmlns:a="http://schemas.openxmlformats.org/drawingml/2006/main">
            <a:r>
              <a:t>- Local note: 50_智能驾驶/01_基础概念/03_LiDAR 输出与相机融合接口.md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备用页。若老师追问内部流程，可以按 Pre-Process、Fusion Process、Post-Process 三段解释：先筛选候选点簇，再做包含或 IoU 判断，最后过滤未知或噪声点簇并输出。第一遍不需要逐项讲参数。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备用页。不同相机 ROI 和三维消息通常不会同时到达。官方实现根据时间戳和偏移量把匹配消息放进 Collector，收齐所需输入或等待超时后再执行融合并发布。这说明时间匹配是融合节点实现的一部分。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https://autowarefoundation.github.io/autoware_universe/main/perception/autoware_image_projection_based_fusion/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e48b06c0f40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2ce951a42947bb" /><Relationship Type="http://schemas.openxmlformats.org/officeDocument/2006/relationships/slideLayout" Target="/ppt/slideLayouts/slideLayout1.xml" Id="R968227ea245a41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8227ea245a41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fdffd39c64f02" /><Relationship Type="http://schemas.openxmlformats.org/officeDocument/2006/relationships/notesSlide" Target="/ppt/notesSlides/notesSlide1.xml" Id="R61707ee1030a4b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348d6bf1c47b7" /><Relationship Type="http://schemas.openxmlformats.org/officeDocument/2006/relationships/notesSlide" Target="/ppt/notesSlides/notesSlide2.xml" Id="R7332380031a848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901103ca04c92" /><Relationship Type="http://schemas.openxmlformats.org/officeDocument/2006/relationships/image" Target="/ppt/media/image.png" Id="Re891e4b8a23844b9" /><Relationship Type="http://schemas.openxmlformats.org/officeDocument/2006/relationships/notesSlide" Target="/ppt/notesSlides/notesSlide3.xml" Id="R8bf5e3f7343f47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c82362b1c4223" /><Relationship Type="http://schemas.openxmlformats.org/officeDocument/2006/relationships/image" Target="/ppt/media/image2.png" Id="R46978727c9f24be9" /><Relationship Type="http://schemas.openxmlformats.org/officeDocument/2006/relationships/notesSlide" Target="/ppt/notesSlides/notesSlide4.xml" Id="R66387a2d921c46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ba0a1cd744e86" /><Relationship Type="http://schemas.openxmlformats.org/officeDocument/2006/relationships/image" Target="/ppt/media/image3.png" Id="R963972fb959844ec" /><Relationship Type="http://schemas.openxmlformats.org/officeDocument/2006/relationships/notesSlide" Target="/ppt/notesSlides/notesSlide5.xml" Id="R8e5d98f4204b43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50284de404e7a" /><Relationship Type="http://schemas.openxmlformats.org/officeDocument/2006/relationships/image" Target="/ppt/media/image4.png" Id="R647d82c757674d0e" /><Relationship Type="http://schemas.openxmlformats.org/officeDocument/2006/relationships/notesSlide" Target="/ppt/notesSlides/notesSlide6.xml" Id="Re551a6fd2e3c45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b841072d9436d" /><Relationship Type="http://schemas.openxmlformats.org/officeDocument/2006/relationships/image" Target="/ppt/media/image5.png" Id="Rbf3144abd451415e" /><Relationship Type="http://schemas.openxmlformats.org/officeDocument/2006/relationships/notesSlide" Target="/ppt/notesSlides/notesSlide7.xml" Id="R4c466336f82e48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81068c3bc49f4" /><Relationship Type="http://schemas.openxmlformats.org/officeDocument/2006/relationships/image" Target="/ppt/media/image6.png" Id="R624ba0e861a547f8" /><Relationship Type="http://schemas.openxmlformats.org/officeDocument/2006/relationships/notesSlide" Target="/ppt/notesSlides/notesSlide8.xml" Id="R6ae71f5c1fd840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64e78d80048d2" /><Relationship Type="http://schemas.openxmlformats.org/officeDocument/2006/relationships/notesSlide" Target="/ppt/notesSlides/notesSlide9.xml" Id="Ree86f914af9d40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0a82c730642d4" /><Relationship Type="http://schemas.openxmlformats.org/officeDocument/2006/relationships/notesSlide" Target="/ppt/notesSlides/notesSlide10.xml" Id="R9e3816c1af2f46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df549db204a6b" /><Relationship Type="http://schemas.openxmlformats.org/officeDocument/2006/relationships/notesSlide" Target="/ppt/notesSlides/notesSlide11.xml" Id="Rf6e123d4ed3047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37c1ccd744981" /><Relationship Type="http://schemas.openxmlformats.org/officeDocument/2006/relationships/image" Target="/ppt/media/image7.png" Id="Ra4ec98a0dff24bcd" /><Relationship Type="http://schemas.openxmlformats.org/officeDocument/2006/relationships/notesSlide" Target="/ppt/notesSlides/notesSlide12.xml" Id="Rbf92aa4cc8de4e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b69d647dd4862" /><Relationship Type="http://schemas.openxmlformats.org/officeDocument/2006/relationships/image" Target="/ppt/media/image8.png" Id="R8c5a71e38baf4116" /><Relationship Type="http://schemas.openxmlformats.org/officeDocument/2006/relationships/notesSlide" Target="/ppt/notesSlides/notesSlide13.xml" Id="R31d2cc1486944e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6B459-1BF2-47F7-AE76-F5E581DE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8CF20-BA69-403D-9C12-CFFADA58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C90B677-19A7-46AC-BF0F-914BA636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5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Autoware 视觉—LiDAR 融合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6A9B7-147B-4CB3-8B3B-39C2F8D5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 LiDAR 输出层级到 ROI 投影匹配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66471-E624-4A62-AC87-A705FE86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90650"/>
            <a:ext cx="3143250" cy="33718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A1511-7D22-447F-B0CD-DEC9193A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9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CAMERA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82EEE-983D-4E95-B374-8E21324F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142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2D ROI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类别与语义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371A9-FD63-4840-BFDE-DF45EA23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33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5FD51-FC45-469E-80F3-BEBCC2CA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809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LiDAR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FEA14-10B2-4C82-8743-CFB567E9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71700"/>
            <a:ext cx="104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8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3D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位置与形状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F09F5-DE4A-4939-AC1C-8781E734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D9449-E995-4DE7-8D6A-9B8F763A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FUSION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FB469-6FFD-4069-8DDC-2F372E17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48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确认同一目标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C8D81-F438-4B60-9089-A3394DE7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6877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41B0E-DF1B-4768-943B-99AF2254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基于官方架构与接口文档梳理｜当前尚未运行 Autoware、rosbag 或融合节点</a:t>
            </a:r>
          </a:p>
        </p:txBody>
      </p:sp>
    </p:spTree>
    <p:extLst>
      <p:ext uri="{BB962C8B-B14F-4D97-AF65-F5344CB8AC3E}">
        <p14:creationId xmlns:p14="http://schemas.microsoft.com/office/powerpoint/2010/main" val="1736592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55576855-022E-4185-89A0-36E7E5C1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WHY FUSION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CF4188E-CB38-492B-A433-DF4D24AC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相机给语义，LiDAR 给三维几何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2845D-9AFB-40AF-B5FB-1161F3F0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318BD-81D0-497E-A6C1-FEB48EA2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67C69-EE8A-43E1-BE74-A3E9E614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22C14-E9E5-4FEB-9D1F-A24C4FDE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两类传感器观察同一世界，但回答的问题不同。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9AD93-C0FE-4BFC-A72C-FCA2CC72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867E5-59A7-4399-AFE8-9568F0D5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CAMERA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A0E8F-635E-4C71-8CB8-3CCAB5B8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相机：是什么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C71DC-97AB-4B75-B700-651677B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304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车辆、行人等类别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颜色、标志与纹理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单目深度和尺度不稳定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3826F-ECD8-4F87-81C7-7805BAE1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194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237F8-CE15-4A00-B1EA-3744E6C5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3835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E4404-EF2B-4619-B206-10ECA065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LiDAR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01D64-9F88-4209-8EA5-29CFE05C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860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LiDAR：在哪里、多大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E94C3-E3F7-4951-97F0-C62282AD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距离、位置与轮廓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直接形成三维点云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原始点的类别信息较弱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83CA6-05CC-484E-9025-5703F13D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247900" cy="26670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07569-28B3-4B08-85C8-E5844FF2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43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FUSION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C3C24-D123-4D7D-8E0B-6B00005D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1790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是不是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同一个目标？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9D688-2E70-493D-93E7-E2F00543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10325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69305-9CD9-45F5-96D7-52A1122F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62575"/>
            <a:ext cx="975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相机补类别，LiDAR 补三维，融合节点确认两边描述的是同一目标。</a:t>
            </a:r>
          </a:p>
        </p:txBody>
      </p:sp>
    </p:spTree>
    <p:extLst>
      <p:ext uri="{BB962C8B-B14F-4D97-AF65-F5344CB8AC3E}">
        <p14:creationId xmlns:p14="http://schemas.microsoft.com/office/powerpoint/2010/main" val="1067484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3-eyebrow">
            <a:extLst xmlns:a="http://schemas.openxmlformats.org/drawingml/2006/main">
              <a:ext uri="{FF2B5EF4-FFF2-40B4-BE49-F238E27FC236}">
                <a16:creationId xmlns:a16="http://schemas.microsoft.com/office/drawing/2014/main" id="{A909A8EC-EB8A-472E-848D-5C36C7A5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NODE 01 · POINT-LEVEL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599C895-732C-4FF5-9244-5478CAFD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FRNet 给每个点补上语义，不直接形成目标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3CBE6-8206-4701-A49F-1F84AC2D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869A9-AF5B-43FB-877C-CD8A3F42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BF9E7-0FC8-4694-999D-C8896B51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2C4F8-D171-4D5B-8843-B32D7951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572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1e4b8a23844b9"/>
          <a:stretch xmlns:a="http://schemas.openxmlformats.org/drawingml/2006/main"/>
        </p:blipFill>
        <p:spPr>
          <a:xfrm xmlns:a="http://schemas.openxmlformats.org/drawingml/2006/main">
            <a:off x="628650" y="2179625"/>
            <a:ext cx="6381750" cy="211775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E814B-35F9-47CA-9AD0-9B1A2305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30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官方模型结构图｜用于解释逐点语义预测，不是本地运行截图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F6AA1-573E-4057-8044-0EAD73F7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657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9CAA6-0E21-409D-9D56-27E7446C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615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它回答“每个点是什么”，尚未回答“这里有几个目标”。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E35B5-DF43-488F-90C3-5C65E1EB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66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最小接口例子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5ECB4-8C24-453A-91BB-DF3B9196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28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数据结构示意｜不是本地运行结果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C85C5-694A-42F0-A743-4CFD1788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47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1AEC9-F59C-4E1B-9B45-3F9F7D98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52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sensor_msgs/msg/PointCloud2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439B7-A8C2-42ED-9474-9402DADC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14650"/>
            <a:ext cx="3943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4E02B-E35E-444E-9448-EF6D2A59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单个点：{x, y, z, intensity, …}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0F8AB-C9A7-4EF2-A2FE-7D1EA6AA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766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6EBC2-65CC-4C95-9FC0-FD798948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38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3034E-6093-4030-9017-987D56B9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434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语义 PointCloud2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41486-E041-4C33-98CC-05CA2AB6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24400"/>
            <a:ext cx="3943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284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F6CEB-A315-4224-A20A-395A596D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76800"/>
            <a:ext cx="3562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同一个点：{x, y, z, intensity,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class_id, probability, …}</a:t>
            </a:r>
          </a:p>
        </p:txBody>
      </p:sp>
    </p:spTree>
    <p:extLst>
      <p:ext uri="{BB962C8B-B14F-4D97-AF65-F5344CB8AC3E}">
        <p14:creationId xmlns:p14="http://schemas.microsoft.com/office/powerpoint/2010/main" val="438447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4-eyebrow">
            <a:extLst xmlns:a="http://schemas.openxmlformats.org/drawingml/2006/main">
              <a:ext uri="{FF2B5EF4-FFF2-40B4-BE49-F238E27FC236}">
                <a16:creationId xmlns:a16="http://schemas.microsoft.com/office/drawing/2014/main" id="{E503942D-D15A-4252-BB1F-334FB7F8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NODE 02 · INSTANCE-LEVEL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95E684B-A0C6-4439-9DE9-E3169C7A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Apollo 把点分成实例，并保留每个目标的点簇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6E947-0817-44B6-A73A-E90C648E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2E987-A058-4F40-BD0E-55B09EC3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DE9AA-4BCF-451B-BC31-5E5EA1C9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62125-7EB7-4602-91F6-A2A54CB4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572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78727c9f24be9"/>
          <a:srcRect xmlns:a="http://schemas.openxmlformats.org/drawingml/2006/main" l="0" t="3399" r="0" b="33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619250"/>
            <a:ext cx="6381750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D8079-FF03-4EA2-A463-920861E2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30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图源：Autoware Apollo Instance Segmentation 官方演示｜非本地实验结果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F3704-D43C-4486-AF22-879D4875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657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1E28B-FBAC-4F82-938E-C8BC235C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615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它回答“哪些点属于同一目标”，点簇仍可继续投影到图像。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936A8-2807-4193-9901-AF68BACA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66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最小接口例子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1D522-F9B1-4336-8652-74B8D25E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28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数据结构示意｜不是本地运行结果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01283-C8EA-4E26-BB7A-BF4B80BC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47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1B1E7-9EFF-4468-A624-6E7FB2AF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52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sensor_msgs/msg/PointCloud2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FD59B-D996-4D0F-9CC5-6A2BA173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14650"/>
            <a:ext cx="3943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F37E6-F94D-48CB-BEF1-F28B50FC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一帧点云：{P₁, P₂, P₃, …}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78A97-FD82-46EC-9135-D9908237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766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455E8D-05BD-4E2F-B41C-7BA6C1A1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38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299EF-0731-489C-A5B0-6B13D26A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434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DetectedObjectsWithFeature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A43CB-41A0-4A1F-97E1-2EA5298E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24400"/>
            <a:ext cx="3943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195FC-D788-4A8B-B9B0-E57F1045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76800"/>
            <a:ext cx="3562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Object A：classification=&lt;类别&gt;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feature.cluster={P₁, P₃, …}</a:t>
            </a:r>
          </a:p>
        </p:txBody>
      </p:sp>
    </p:spTree>
    <p:extLst>
      <p:ext uri="{BB962C8B-B14F-4D97-AF65-F5344CB8AC3E}">
        <p14:creationId xmlns:p14="http://schemas.microsoft.com/office/powerpoint/2010/main" val="15137151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5-eyebrow">
            <a:extLst xmlns:a="http://schemas.openxmlformats.org/drawingml/2006/main">
              <a:ext uri="{FF2B5EF4-FFF2-40B4-BE49-F238E27FC236}">
                <a16:creationId xmlns:a16="http://schemas.microsoft.com/office/drawing/2014/main" id="{D7BC0A23-BA5B-43F6-8CCD-22332CD3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NODE 03 · OBJECT-LEVEL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7852B2E-D6C4-4CAE-8720-6CC36F5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CenterPoint 直接给出可用的 3D 检测目标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20C48-B419-4591-98F0-9E561900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EA66B-AF93-4B4F-B92A-D9958309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BC85F-BEC2-451B-B002-F4C5784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AA8C9-63C4-494E-A7B7-0C9C90FF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572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972fb959844ec"/>
          <a:stretch xmlns:a="http://schemas.openxmlformats.org/drawingml/2006/main"/>
        </p:blipFill>
        <p:spPr>
          <a:xfrm xmlns:a="http://schemas.openxmlformats.org/drawingml/2006/main">
            <a:off x="628650" y="2148742"/>
            <a:ext cx="6381750" cy="2179517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F707F-61DF-4DC6-8DFE-9842073D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30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图源：CenterPoint 作者官方仓库｜展示 3D 检测结果，非本地实验结果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96821-D3D0-474B-A78E-68ABE263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657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E3158-B5CF-497C-AF70-5DE330D6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615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它直接回答目标在哪里、是什么类别，以及 3D 框多大。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204B3-FEDC-4C9B-86DF-24ABE753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66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最小接口例子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39574-B18F-48DE-A222-D5E76575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28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数据结构示意｜不是本地运行结果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DE6B1-F236-415E-8041-00128DA7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47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2B404-8F8A-454B-BA62-7D00D05D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52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sensor_msgs/msg/PointCloud2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0DB65-9A08-4A84-866E-6ADC6863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14650"/>
            <a:ext cx="3943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61DB2-B621-4E95-BA2E-40646C9E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一帧场景点云：{P₁, P₂, P₃, …}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B2B12-3C08-4279-91F2-3A56C93E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766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B4035-948B-418C-9E71-E2C9DC1F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38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3F4BA-925D-4FFD-83A0-6338D754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434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DetectedObjects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CE9B91-5033-48CA-B576-24CB52D8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24400"/>
            <a:ext cx="3943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A1E98-7181-4A0D-84B4-8ED3F305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76800"/>
            <a:ext cx="3562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Object A：{类别, 置信度,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位置, 朝向, 3D 形状}</a:t>
            </a:r>
          </a:p>
        </p:txBody>
      </p:sp>
    </p:spTree>
    <p:extLst>
      <p:ext uri="{BB962C8B-B14F-4D97-AF65-F5344CB8AC3E}">
        <p14:creationId xmlns:p14="http://schemas.microsoft.com/office/powerpoint/2010/main" val="92719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6-eyebrow">
            <a:extLst xmlns:a="http://schemas.openxmlformats.org/drawingml/2006/main">
              <a:ext uri="{FF2B5EF4-FFF2-40B4-BE49-F238E27FC236}">
                <a16:creationId xmlns:a16="http://schemas.microsoft.com/office/drawing/2014/main" id="{A7804ED3-A2CD-49D0-B5A6-C4A63821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NODE 04 · OBJECT-LEVEL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F1407993-C011-459A-999A-6F305D16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LiDAR TransFusion 当前仍是 LiDAR-only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65E09-3CBE-48B8-8D86-CA3FFBEE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A5003-C0BC-48F5-A164-5CD0B136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3E1B4-82B0-434B-8DB5-E28C65FC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ABDCE-C834-42BB-AF71-7BD68059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572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d82c757674d0e"/>
          <a:stretch xmlns:a="http://schemas.openxmlformats.org/drawingml/2006/main"/>
        </p:blipFill>
        <p:spPr>
          <a:xfrm xmlns:a="http://schemas.openxmlformats.org/drawingml/2006/main">
            <a:off x="628650" y="1981943"/>
            <a:ext cx="6381750" cy="2513114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D5199-FCBA-4653-9556-9321AB75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30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论文模型图含 Camera 分支｜当前 Autoware 节点接口仍只声明点云输入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7604D-E21E-4D14-B24F-65CA4127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657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ADCCA-D2E4-436D-855F-597DD905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615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名称中的 Fusion，不等于当前 ROS 2 节点已经订阅相机。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C6055-0725-408F-A169-05CC7ED1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66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最小接口例子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55896-E5EC-4E13-907A-BFC63772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28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数据结构示意｜不是本地运行结果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E836F-11BD-4A43-B27B-D31D2BC8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47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6F4D8-ADB7-4C31-B894-76202958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52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sensor_msgs/msg/PointCloud2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2C165-01EA-47A8-AA1D-8615E45A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14650"/>
            <a:ext cx="3943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5B15D-F262-430B-A66D-AB736BB7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当前节点主输入：LiDAR 点云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A1A22-4098-4074-AA87-225ACB59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766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20E5F-D4BE-4C18-8D6A-E2718399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38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CC4ED-256F-4F92-91B4-177EC55D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434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DetectedObjects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7C42A-8164-4E52-BDB5-06990493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24400"/>
            <a:ext cx="3943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272FC-4AF4-442F-8870-06EBD9BF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76800"/>
            <a:ext cx="3562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Object A：{类别, 置信度,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位置, 朝向, 3D 形状}</a:t>
            </a:r>
          </a:p>
        </p:txBody>
      </p:sp>
    </p:spTree>
    <p:extLst>
      <p:ext uri="{BB962C8B-B14F-4D97-AF65-F5344CB8AC3E}">
        <p14:creationId xmlns:p14="http://schemas.microsoft.com/office/powerpoint/2010/main" val="863862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7-eyebrow">
            <a:extLst xmlns:a="http://schemas.openxmlformats.org/drawingml/2006/main">
              <a:ext uri="{FF2B5EF4-FFF2-40B4-BE49-F238E27FC236}">
                <a16:creationId xmlns:a16="http://schemas.microsoft.com/office/drawing/2014/main" id="{456E01BC-C3AE-4309-BA1F-440EB375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INTERFACE ROUTING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815AEAD9-FC5B-40E0-A838-84F13132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输出消息类型决定应该接哪个融合节点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A028F-EC73-4B72-83BA-E136F861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A1453-9C10-4158-AE92-CBF01F83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A8D26-A142-4E0F-A39D-47C75237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71ECB-ADC5-4BF5-8A84-697225E3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0AE21-B6E6-40CB-82C6-64354123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Apollo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43710-0FAC-478F-A87C-18F35AE6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DetectedObjectsWithFeature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239BB-FFB1-4589-A818-3A2A2C35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→  roi_cluster_fusion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C22D9-AB3B-4382-B42F-BBF4E620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C46D8-0EA8-49FB-AAC9-D599CB8F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CenterPoint / TransFusion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14532-97C3-4CCD-87D2-D53C6903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DetectedObjects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95ECB-8E96-4484-9471-A62F0376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→  roi_detected_object_fusion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1FF89-39BE-4CA2-9898-4C3F5D54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A0DAE-1B52-4206-934B-29BEB6CF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FRNet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7C611-9E0B-4E8E-8537-58BBB627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语义 PointCloud2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DF4EB-1BC9-4118-9CAB-98F85172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→  先形成点簇或目标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CF009-A93A-4D5F-9E65-4BA312AF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3695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FC574-DE17-4D77-A775-598ECD3E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不能因为两边都叫 PointCloud2，就默认字段布局兼容。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A4162-3D30-4CA2-8846-962D0BEC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390650"/>
            <a:ext cx="7029450" cy="43053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144abd451415e"/>
          <a:stretch xmlns:a="http://schemas.openxmlformats.org/drawingml/2006/main"/>
        </p:blipFill>
        <p:spPr>
          <a:xfrm xmlns:a="http://schemas.openxmlformats.org/drawingml/2006/main">
            <a:off x="5785392" y="1485900"/>
            <a:ext cx="4716966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5542D-DB45-46D2-9F02-60158B49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721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官方参考架构：LiDAR clustering 与 Camera 2D detector 在投影融合节点汇合</a:t>
            </a:r>
          </a:p>
        </p:txBody>
      </p:sp>
    </p:spTree>
    <p:extLst>
      <p:ext uri="{BB962C8B-B14F-4D97-AF65-F5344CB8AC3E}">
        <p14:creationId xmlns:p14="http://schemas.microsoft.com/office/powerpoint/2010/main" val="18870327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8-eyebrow">
            <a:extLst xmlns:a="http://schemas.openxmlformats.org/drawingml/2006/main">
              <a:ext uri="{FF2B5EF4-FFF2-40B4-BE49-F238E27FC236}">
                <a16:creationId xmlns:a16="http://schemas.microsoft.com/office/drawing/2014/main" id="{DD460764-82B4-4BA5-9DD9-7DFC9D66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PROJECTION-BASED FUSION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7B9EF5CA-98AC-47B1-B672-062330ED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ROI cluster fusion：3D 点簇如何匹配 2D 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53CE9-5699-47CF-B1B2-AD891145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DF790-CED8-4115-BBD2-DD51B7CB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56FEE-0058-4CE3-A580-D08EE32A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D8FA8-85C1-4E7A-B079-700BD041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19125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ba0e861a547f8"/>
          <a:stretch xmlns:a="http://schemas.openxmlformats.org/drawingml/2006/main"/>
        </p:blipFill>
        <p:spPr>
          <a:xfrm xmlns:a="http://schemas.openxmlformats.org/drawingml/2006/main">
            <a:off x="916330" y="1619250"/>
            <a:ext cx="5425391" cy="3486150"/>
          </a:xfrm>
          <a:prstGeom xmlns:a="http://schemas.openxmlformats.org/drawingml/2006/main" prst="roundRect">
            <a:avLst>
              <a:gd name="adj" fmla="val 218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DAEBD-AB2F-4B50-A258-12E7ED92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图源：Autoware roi_cluster_fusion 官方文档；虚线框是点簇投影，红框是相机检测 ROI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4BFB3-67F7-4AF3-8DC8-35CE62E8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192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C14A7-0246-41CA-B71B-FCAD1A5D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859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44BA6-3612-4FB8-8CDA-F435E1F1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002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71DDC-2BC7-4640-BD6F-D8D39811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431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3D cluster + 2D ROI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+ CameraInfo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66D87-D4FE-4C25-BDC6-B375E454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8D089-A05F-4483-A153-3EA23482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384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BBC5A-8964-4639-B436-9BD123DC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52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几何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9B599-34DE-452E-A055-19C37C5D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956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TF 外参转换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相机内参投影到像素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48771-06A6-4968-9A4F-D9D4D8CB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49178-721E-460E-9A34-C9A8CDCD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909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F823CE-298D-4835-9D02-79DAF504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052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匹配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71200-FA4D-441C-8069-FA8D9828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481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比较投影框与检测框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计算 IoU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171BD-19DB-433F-B7AE-B35F2E54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767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C767B5-9054-4841-B647-64DCA6CC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434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4064C-4A6A-4AB8-80F3-E0F6546D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57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74AC9-431E-4589-B5C7-4C38493F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006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用相机类别更新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3D cluster 标签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BAC1EF-AA7A-4653-A4DA-1457F8F7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524500"/>
            <a:ext cx="40386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71937E-7AB2-40BA-8B1A-97B9FB53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769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9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易错点：外参/TF 偏差｜CameraInfo 错误｜图像与点云时间不同步</a:t>
            </a:r>
          </a:p>
        </p:txBody>
      </p:sp>
    </p:spTree>
    <p:extLst>
      <p:ext uri="{BB962C8B-B14F-4D97-AF65-F5344CB8AC3E}">
        <p14:creationId xmlns:p14="http://schemas.microsoft.com/office/powerpoint/2010/main" val="1259853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9-eyebrow">
            <a:extLst xmlns:a="http://schemas.openxmlformats.org/drawingml/2006/main">
              <a:ext uri="{FF2B5EF4-FFF2-40B4-BE49-F238E27FC236}">
                <a16:creationId xmlns:a16="http://schemas.microsoft.com/office/drawing/2014/main" id="{1E24289D-95D8-4A10-9E46-EDFC3835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SEMANTIC POINT CLOUD CLUSTERING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E7A90138-D6B2-4C11-89CE-1A4F50AE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Label-based 聚类不直接使用相机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06289-BA56-4D15-A468-C5163DD4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4C3F5-F159-406F-BF0F-7627F539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CC1C8-B021-4C31-B97E-FA34790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EC329-2742-4236-ADF2-676156E8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节点只订阅一份 PointCloud2；图像、CameraInfo 和 2D ROI 都不是它的直接输入。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47998-3224-46ED-9D3D-ABBCC447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1771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5EBF6-8210-4A04-B48D-BB71E218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4A9F4-0496-4B5C-BD8C-ACA4927F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输入点云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59762-E2A7-46C4-AD36-4232BFA4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PointXYZCPE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语义点云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D62B5-9661-41DA-A2CA-34F7645C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194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7E980-391B-4F6B-BF91-7F7741B7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24050"/>
            <a:ext cx="1771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AA24E-57AE-4268-AA5C-13EC556C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9CF58-0F9B-48CF-9E77-45964F3E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置信度过滤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3F4C2-3041-4D4C-9FF6-BF8E5DD4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040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低于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min_probability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的点被过滤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1B242-22B6-492F-8D79-DA577EE8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E98D4-CE0E-4F62-BD6D-DB44E49A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24050"/>
            <a:ext cx="1771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D490E-FF58-42E1-84EA-55E9D8E9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33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08F76-EAED-4333-A2F3-E2E1F849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按标签分桶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43E4B6-EC9A-4FD5-8FA9-B1EF7390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0040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车辆、行人等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 class_id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进入不同类别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B384A-8BD5-48C6-8163-6B91599D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194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7A018-7667-4B8F-9A33-F482CB17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24050"/>
            <a:ext cx="1771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5F166-EA44-462F-B58B-D432F549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71BD9-4267-4489-99A5-BCBB39AD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每类独立聚类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909EF7-1445-47D0-8FEE-68DBCFB4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040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同类别内部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按空间距离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形成点簇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5ED6D-EE33-4EAE-BEB5-F72AD8D6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38CF1E-3BEC-4609-BFAF-11DEB19F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4050"/>
            <a:ext cx="2514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FBFADF-4D37-4BC0-83EA-27D74AE0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98032F-14AF-449A-9088-3E330FF8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形状与输出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152201-E807-457E-8129-E216701B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00400"/>
            <a:ext cx="2362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ShapeEstimator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位置 / 姿态 / 形状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→ DetectedObjects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4F50EB-151A-4D7B-9F39-0810E397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11252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F1CC18-D25E-4794-9191-47416BA5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完整输入布局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8357D1-0C79-4A21-862B-AE952545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14900"/>
            <a:ext cx="659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x   y   z   class_id   probability   entropy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23A3A4-94B6-4859-9E18-1B87A729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62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其他布局会被拒绝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77C7EA-0874-4F1F-BBBD-B85604F4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21D3EF-8761-42E5-A0C8-6661A081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边界：它做空间聚类，不做跨帧跟踪；上游语义错误会直接影响输出。</a:t>
            </a:r>
          </a:p>
        </p:txBody>
      </p:sp>
    </p:spTree>
    <p:extLst>
      <p:ext uri="{BB962C8B-B14F-4D97-AF65-F5344CB8AC3E}">
        <p14:creationId xmlns:p14="http://schemas.microsoft.com/office/powerpoint/2010/main" val="16302440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10-eyebrow">
            <a:extLst xmlns:a="http://schemas.openxmlformats.org/drawingml/2006/main">
              <a:ext uri="{FF2B5EF4-FFF2-40B4-BE49-F238E27FC236}">
                <a16:creationId xmlns:a16="http://schemas.microsoft.com/office/drawing/2014/main" id="{DC70CDDD-C6E4-4F15-9EB6-219BEA8B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DO NOT CONFLATE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92164B86-2CE5-47C8-A04D-D284DE54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两个模块相关，但不是同一个节点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D8591-9AA1-4B00-AD8E-1D9FD7C7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A3D79-9FE3-4197-BAFB-735E2469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C669F-F166-4913-9B7B-563A9308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36D14-2463-491A-B5EF-C1F8B5B3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它们都能把点云变成可用于检测的 3D 结果，但语义加入的位置不同。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A0148-4955-4A9B-8DF1-9D0A868B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7899D-E6D4-4B18-9B9D-CDB6C236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ROI cluster fusion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FF41B-5807-4E03-B9F6-E727888F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56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55C17-3C2B-45F4-BA7D-F6107614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556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Label-based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AE6F5-E3AB-4CB4-8CCD-A1B6026C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48A28-AC2E-469A-9383-E73125F5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670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3D cluster + 2D ROI + CameraInfo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A9FC6-B1E0-48CA-97E6-978ABAEB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9C6D5-9DD5-4D12-9B44-972BFA18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带 class_id 的 PointXYZCPE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94E6E-6422-4B53-92CF-DC9D9D10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EB7D3-DA16-4CBD-9D6A-979659A5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87AD3-0770-4A72-A051-A6ED1237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语义来源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E409B-9E6E-4657-B07D-9EC5ACA5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908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相机 2D 检测器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0B3D6-9230-4136-94EF-186E8505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语义来源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008B0-29BF-4A0A-BAC1-DF027B3B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90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上游语义点云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33FE6D-B591-48EA-9E0F-DF20E57C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54E59E-CEA5-4547-BA53-C52FF944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4CDE4-BD05-465E-BA13-D51FA7D6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是否直接用相机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2820B3-3240-4A13-9211-29FCB722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DED37-5AB2-4619-8E54-5D2A89C7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是否直接用相机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DC0118-7855-4875-A4F5-593BDD50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14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FB23EC-E7B8-4889-9927-3CAD0D66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6E49F4-4C26-4182-B37C-BA934C8E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EE3D6F-AC22-4B6D-BC33-3C77C554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核心处理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C633E-62AD-461F-938C-47C7252D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3D→2D 投影 + IoU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828EA6-8DA9-46B7-B917-822968AC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核心处理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E44680-796A-411B-BAF0-726F128E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38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同类别内部空间聚类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CAE9ED-687B-496E-9D11-FD86C138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5EC184-63F2-4CFD-ADD3-792CD86D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9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732AE5-B460-4A23-8B04-2CA5AC5A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A2EE1A-5C09-44B3-A09C-C5FAACEB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带类别的 3D cluster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421EF1-4539-4662-93C4-53AB4E13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0FDD79-CC17-4E8F-9717-9D41CEC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62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DetectedObjects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5E4323-1451-41EE-8864-2DD60E74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FF3F69-523B-434A-9B7D-A33F254A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3B4226-2F2C-4073-A105-B44AA7C8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5DC9FE-4F21-4439-AF32-A6653785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0547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不能未经验证画成：roi_cluster_fusion → label_based_euclidean_cluster（官方资料没有证明这是默认流水线）</a:t>
            </a:r>
          </a:p>
        </p:txBody>
      </p:sp>
    </p:spTree>
    <p:extLst>
      <p:ext uri="{BB962C8B-B14F-4D97-AF65-F5344CB8AC3E}">
        <p14:creationId xmlns:p14="http://schemas.microsoft.com/office/powerpoint/2010/main" val="11292489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11-eyebrow">
            <a:extLst xmlns:a="http://schemas.openxmlformats.org/drawingml/2006/main">
              <a:ext uri="{FF2B5EF4-FFF2-40B4-BE49-F238E27FC236}">
                <a16:creationId xmlns:a16="http://schemas.microsoft.com/office/drawing/2014/main" id="{0172DF59-7E4C-4FA0-8EFA-6A68DC40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CURRENT STATE → NEXT EVIDENCE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16F8EB5C-2198-414B-AFCE-AC24660A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当前完成了架构理解，下一步补真实验证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73270-A725-4BFB-879A-1E66FBBA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834D5-8803-42E4-85F0-F90D2050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9E401-FC24-492C-A5E4-6CDBABB2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0E30B-3B34-4CCD-BBCE-F260AFF0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41EE4-66DE-41BB-9484-81C728AA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66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4359D-82B6-4AB0-96B0-9C2BEF46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2902E-C316-4297-9062-3CA4C5F7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0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感知架构中的融合位置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14F41-6AE9-4F49-A237-7C1D8445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1019D-DB82-4D47-A5CE-35DD8CD1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四个 LiDAR 包的输出层级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FA023-C3AF-4114-80D6-6823D3C1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BAE0E-F3B7-4C06-A2A7-6B8C4103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不同输出对应的融合分支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6341E-084D-40B9-A7A5-1448D541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70102-C08A-4825-BAC2-8866B7E5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ROI 与 label-based 的边界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A4A2D-0569-41DD-8333-E6DB595F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待验证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92ED4-0D0E-4292-B245-487949EB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497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A7642-F269-45F1-98BD-8CE2F670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B61232-27F9-4577-8EDF-D5958191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03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组内工程实际启用的包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DADC7-4971-4CA4-A7F2-CFE0B71B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6FC42-949E-4D52-8B46-F3A1023E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launch / remapping 与 Topic 类型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3A9A7-BD09-4177-84DA-3A303939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12E82-3863-4B44-A183-2570858F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957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相机—LiDAR TF 和时间戳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9144E-A85D-47F6-8123-EC0F6F60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83D10-3D9B-431C-B5F9-7685AA5F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rosbag 中的真实数据流与输出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D0089E-C544-4416-937F-DDC8C647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9D412F-F993-453F-88B9-5CA0F348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先根据接口识别数据层级，再决定融合方式。</a:t>
            </a:r>
          </a:p>
        </p:txBody>
      </p:sp>
    </p:spTree>
    <p:extLst>
      <p:ext uri="{BB962C8B-B14F-4D97-AF65-F5344CB8AC3E}">
        <p14:creationId xmlns:p14="http://schemas.microsoft.com/office/powerpoint/2010/main" val="19213390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12-eyebrow">
            <a:extLst xmlns:a="http://schemas.openxmlformats.org/drawingml/2006/main">
              <a:ext uri="{FF2B5EF4-FFF2-40B4-BE49-F238E27FC236}">
                <a16:creationId xmlns:a16="http://schemas.microsoft.com/office/drawing/2014/main" id="{CA3B5D8D-777B-4328-A2AC-4A98B473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BACKUP · ALGORITHM DETAIL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8E8E27E6-1DD8-4A53-B65E-50F3C6DC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备用｜ROI cluster fusion 官方内部流程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A6FA4-52A1-4FDB-AA8B-58E1604C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7546A-46CC-41F7-A802-356B0107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71177-2023-4735-9B8E-DCCE19F8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AB6A9-B756-44AD-B47C-F636C835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c98a0dff24bcd"/>
          <a:stretch xmlns:a="http://schemas.openxmlformats.org/drawingml/2006/main"/>
        </p:blipFill>
        <p:spPr>
          <a:xfrm xmlns:a="http://schemas.openxmlformats.org/drawingml/2006/main">
            <a:off x="2200990" y="1390650"/>
            <a:ext cx="7790020" cy="4572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E28B1-B293-409E-883F-3A2ED630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图源：Autoware roi_cluster_fusion 官方文档；正常汇报不展开参数分支，仅在追问时使用</a:t>
            </a:r>
          </a:p>
        </p:txBody>
      </p:sp>
    </p:spTree>
    <p:extLst>
      <p:ext uri="{BB962C8B-B14F-4D97-AF65-F5344CB8AC3E}">
        <p14:creationId xmlns:p14="http://schemas.microsoft.com/office/powerpoint/2010/main" val="5105728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13-eyebrow">
            <a:extLst xmlns:a="http://schemas.openxmlformats.org/drawingml/2006/main">
              <a:ext uri="{FF2B5EF4-FFF2-40B4-BE49-F238E27FC236}">
                <a16:creationId xmlns:a16="http://schemas.microsoft.com/office/drawing/2014/main" id="{79D04039-2549-4105-8565-73AFDEF2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284C7"/>
                </a:solidFill>
                <a:latin typeface="Microsoft YaHei"/>
                <a:ea typeface="Microsoft YaHei"/>
                <a:cs typeface="Microsoft YaHei"/>
              </a:rPr>
              <a:t>BACKUP · TEMPORAL ALIGNMENT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04AEBE80-6DE9-4E1D-8A2B-43DDA9DD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备用｜多路消息如何按时间收集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B0888-EF46-4F28-929F-F8C74BB9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537E6-68E7-48F5-8E6B-2BD8AADC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组会学习汇报 · 2026.08.05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12692-5D81-4273-9015-968AD688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F1C88-78D3-495E-887D-F3B614B9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524750" cy="43053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a71e38baf4116"/>
          <a:stretch xmlns:a="http://schemas.openxmlformats.org/drawingml/2006/main"/>
        </p:blipFill>
        <p:spPr>
          <a:xfrm xmlns:a="http://schemas.openxmlformats.org/drawingml/2006/main">
            <a:off x="759343" y="1524000"/>
            <a:ext cx="7072864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6E756-6C58-4488-B6B7-B462F06F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图源：Autoware Image Projection Based Fusion 官方文档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9245A-2920-4392-80A8-E554454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02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Collector 的作用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3EACE-7C1D-4401-BC6C-5A966EC0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135AE-47CF-4BEE-97BA-7F424D3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  以参考时间戳创建收集器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DEAC6-D995-4565-96BA-6A5DC809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  比较各路 ROI 与 3D 消息的时间差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177C9-C506-491F-9A0B-7BD8B257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  输入收齐或等待超时后再融合发布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0C637-0901-460E-8284-BCBA781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91100"/>
            <a:ext cx="2895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F12E0-DFB8-458A-AF51-AA988683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625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7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时间匹配不是附加步骤，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而是融合实现的一部分。</a:t>
            </a:r>
          </a:p>
        </p:txBody>
      </p:sp>
    </p:spTree>
    <p:extLst>
      <p:ext uri="{BB962C8B-B14F-4D97-AF65-F5344CB8AC3E}">
        <p14:creationId xmlns:p14="http://schemas.microsoft.com/office/powerpoint/2010/main" val="959375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2026-08-04T06:57:06.9470000Z</dcterms:created>
  <dcterms:modified xsi:type="dcterms:W3CDTF">2026-08-04T06:57:06.9470000Z</dcterms:modified>
</coreProperties>
</file>