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9" r:id="rId10"/>
    <p:sldId id="266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开场先说明本周汇报范围：我完成的是 Autoware 视觉—LiDAR 融合架构和接口的文档梳理，重点是理解不同 LiDAR 输出怎样进入投影融合。当前没有把官方示意图或文档结论当成本地实验结果。</a:t>
            </a:r>
          </a:p>
          <a:p/>
          <a:p>
            <a:r>
              <a:t>[Sources]</a:t>
            </a:r>
          </a:p>
          <a:p>
            <a:r>
              <a:t>- Local note: 50_智能驾驶/01_基础概念/04_相机—LiDAR 投影融合.md</a:t>
            </a:r>
          </a:p>
          <a:p>
            <a:r>
              <a:t>- https://autowarefoundation.github.io/autoware-documentation/main/design/autoware-architecture-v1/components/perception/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这一页只讲直觉。相机擅长识别类别和纹理，LiDAR 擅长测量三维位置和形状。融合不是简单把两份数据叠起来，而是要判断相机中的二维目标与 LiDAR 中的三维目标是不是同一个物体。</a:t>
            </a:r>
          </a:p>
          <a:p/>
          <a:p>
            <a:r>
              <a:t>[Sources]</a:t>
            </a:r>
          </a:p>
          <a:p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这里用一个假设场景把数据说具体：输入点 P1、P2 位于前方约十二米，P3 位于右前方约八米。FRNet 输出后，P1、P2 分别被预测为车辆点，P3 被预测为行人点，并带有示例概率。它仍然逐点回答类别，还没有把 P1、P2 组织成同一个车辆目标。页面上的坐标和概率只是讲解消息形式，不是本地运行数据。</a:t>
            </a:r>
          </a:p>
          <a:p/>
          <a:p>
            <a:r>
              <a:t>[Sources]</a:t>
            </a:r>
          </a:p>
          <a:p>
            <a:r>
              <a:t>- https://github.com/autowarefoundation/autoware_universe/tree/main/perception/autoware_lidar_frnet</a:t>
            </a:r>
          </a:p>
          <a:p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仍然使用同一个假设场景。Apollo 不再只说每个点是什么，而是把 P1、P2 和附近的车辆点组织成 Object 1，把 P3 和附近的行人点组织成 Object 2。输出是 DetectedObjectsWithFeature，每个对象中仍保留 feature.cluster，所以后续可以把真实点簇投影到图像。这里的点编号和分类只是示例。</a:t>
            </a:r>
          </a:p>
          <a:p/>
          <a:p>
            <a:r>
              <a:t>[Sources]</a:t>
            </a:r>
          </a:p>
          <a:p>
            <a:r>
              <a:t>- https://autowarefoundation.github.io/autoware_universe/main/perception/autoware_lidar_apollo_instance_segmentation/</a:t>
            </a:r>
          </a:p>
          <a:p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CenterPoint 直接把整帧点云变成完整三维目标。假设输出中，第一辆车位于前方十二点二米、横向一点八米，三维尺寸约四点五乘一点八乘一点六米；第二个目标是一名行人。这样就能直观看出 DetectedObjects 已经包含类别、置信度、位置、朝向和形状，而不是一组原始点。所有数字仍是讲解示例。</a:t>
            </a:r>
          </a:p>
          <a:p/>
          <a:p>
            <a:r>
              <a:t>[Sources]</a:t>
            </a:r>
          </a:p>
          <a:p>
            <a:r>
              <a:t>- https://autowarefoundation.github.io/autoware_universe/main/perception/autoware_lidar_centerpoint/</a:t>
            </a:r>
          </a:p>
          <a:p>
            <a:r>
              <a:t>- https://github.com/tianweiy/CenterPoint</a:t>
            </a:r>
          </a:p>
          <a:p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这页继续用同一个具体示例说明消息层级。当前 Autoware LiDAR TransFusion 节点接收 LiDAR PointCloud2，也输出包含类别、位置、朝向和三维形状的 DetectedObjects，所以右侧示例和 CenterPoint 使用相同的对象结构。重点不是比较两种算法的示例数值，而是说明它们接口同层级；论文图中的 Camera 分支不能证明当前节点已经订阅相机。</a:t>
            </a:r>
          </a:p>
          <a:p/>
          <a:p>
            <a:r>
              <a:t>[Sources]</a:t>
            </a:r>
          </a:p>
          <a:p>
            <a:r>
              <a:t>- https://autowarefoundation.github.io/autoware_universe/main/perception/autoware_lidar_transfusion/</a:t>
            </a:r>
          </a:p>
          <a:p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左侧只保留听众真正需要识别的输出层级和关键字段。右侧编号表示一般架构位置：CenterPoint 和当前 LiDAR TransFusion 对应 LiDAR pipeline 中的 DNN based 3D detector；Apollo Instance Segmentation 对应 LiDAR clustering；FRNet 属于逐点语义分割，应放在形成实例点簇或目标之前，官方参考图没有单独画出它；roi_cluster_fusion 和 roi_detected_object_fusion 都属于 Camera-LiDAR pipeline 中的 Projection based fusion node。彩色编号是基于接口含义做的位置标注，不代表组内 launch 已经这样连接。</a:t>
            </a:r>
          </a:p>
          <a:p/>
          <a:p>
            <a:r>
              <a:t>[Sources]</a:t>
            </a:r>
          </a:p>
          <a:p>
            <a:r>
              <a:t>- https://autowarefoundation.github.io/autoware-documentation/main/design/autoware-architecture-v1/components/perception/</a:t>
            </a:r>
          </a:p>
          <a:p>
            <a:r>
              <a:t>- https://autowarefoundation.github.io/autoware_universe/main/perception/autoware_image_projection_based_fusion/docs/roi-cluster-fusion/</a:t>
            </a:r>
          </a:p>
          <a:p>
            <a:r>
              <a:t>- https://autowarefoundation.github.io/autoware_universe/main/perception/autoware_image_projection_based_fusion/docs/roi-detected-object-fusion/</a:t>
            </a:r>
          </a:p>
          <a:p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本周完成的成果是把架构位置、四个 LiDAR 包、融合分支和两个模块的边界讲清楚。下一步不再扩展更多算法，而是向老师或组员确认实际 launch、Topic 和消息类型，并在拿到 rosbag 后检查 TF、时间戳和真实输出。结论是：先识别接口层级，再决定融合方式。</a:t>
            </a:r>
          </a:p>
          <a:p/>
          <a:p>
            <a:r>
              <a:t>[Sources]</a:t>
            </a:r>
          </a:p>
          <a:p>
            <a:r>
              <a:t>- Local note: 50_智能驾驶/01_基础概念/02_Autoware LiDAR 感知节点.md</a:t>
            </a:r>
          </a:p>
          <a:p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334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5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971550"/>
            <a:ext cx="1428750" cy="57150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533400" y="1752600"/>
            <a:ext cx="7239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5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Autoware 视觉—LiDAR 融合</a:t>
            </a:r>
            <a:endParaRPr sz="5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65760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LiDAR 输出层级到 ROI 投影匹配</a:t>
            </a:r>
            <a:endParaRPr sz="240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153400" y="1390650"/>
            <a:ext cx="3143250" cy="33718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496300" y="18097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CAMERA</a:t>
            </a:r>
            <a:endParaRPr sz="135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96300" y="2171700"/>
            <a:ext cx="1428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2D ROI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类别与语义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886950" y="25336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55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25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306050" y="18097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</a:t>
            </a:r>
            <a:endParaRPr sz="13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58400" y="2171700"/>
            <a:ext cx="1047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877"/>
          </a:bodyPr>
          <a:lstStyle/>
          <a:p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位置与形状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0" y="3219450"/>
            <a:ext cx="228600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29700" y="34290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FUSION</a:t>
            </a:r>
            <a:endParaRPr sz="13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05850" y="38481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确认同一目标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33400" y="5391150"/>
            <a:ext cx="687705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2950" y="5572125"/>
            <a:ext cx="647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基于官方架构与接口文档梳理</a:t>
            </a:r>
            <a:endParaRPr sz="14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slide-2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 FUSION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2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相机给语义，LiDAR 给三维几何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811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两类传感器观察同一世界，但回答的问题不同。</a:t>
            </a:r>
            <a:endParaRPr sz="18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038350"/>
            <a:ext cx="2914650" cy="57150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266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CAMERA</a:t>
            </a:r>
            <a:endParaRPr sz="135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6860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44"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相机：是什么</a:t>
            </a:r>
            <a:endParaRPr sz="28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335280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车辆、行人等类别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颜色、标志与纹理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单目深度和尺度不稳定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10075" y="3219450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40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40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72100" y="2038350"/>
            <a:ext cx="2914650" cy="5715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372100" y="2266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</a:t>
            </a:r>
            <a:endParaRPr sz="13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72100" y="26860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44"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LiDAR：在哪里、多大</a:t>
            </a:r>
            <a:endParaRPr sz="28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72100" y="3352800"/>
            <a:ext cx="3238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距离、位置与轮廓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直接形成三维点云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原始点的类别信息较弱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24950" y="2038350"/>
            <a:ext cx="2247900" cy="2667000"/>
          </a:xfrm>
          <a:prstGeom prst="roundRect">
            <a:avLst>
              <a:gd name="adj" fmla="val 6780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91650" y="2343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FUSION</a:t>
            </a:r>
            <a:endParaRPr sz="13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53550" y="2857500"/>
            <a:ext cx="17907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390"/>
          </a:bodyPr>
          <a:lstStyle/>
          <a:p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是不是</a:t>
            </a:r>
            <a:endParaRPr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同一个目标？</a:t>
            </a:r>
            <a:endParaRPr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47750" y="5200650"/>
            <a:ext cx="103251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333500" y="5362575"/>
            <a:ext cx="975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734"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相机补类别，LiDAR 补三维，融合节点确认两边描述的是同一目标。</a:t>
            </a:r>
            <a:endParaRPr sz="20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3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01 · POINT-LEVEL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3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FRNet 给每个点补上语义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524000"/>
            <a:ext cx="6572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179625"/>
            <a:ext cx="6381750" cy="2117751"/>
          </a:xfrm>
          <a:prstGeom prst="roundRect">
            <a:avLst>
              <a:gd name="adj" fmla="val 2353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533400" y="5562600"/>
            <a:ext cx="6572250" cy="514350"/>
          </a:xfrm>
          <a:prstGeom prst="roundRect">
            <a:avLst>
              <a:gd name="adj" fmla="val 14815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705475"/>
            <a:ext cx="615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它回答“每个点是什么”，尚未回答“这里有几个目标”。</a:t>
            </a:r>
            <a:endParaRPr sz="15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86650" y="146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具体输入输出例子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1866265"/>
            <a:ext cx="3943350" cy="343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假设场景：前方约 12 m 一辆车，右前方约 8 m 一名行人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305050"/>
            <a:ext cx="371983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000"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r>
              <a:rPr lang="en-US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xyz</a:t>
            </a:r>
            <a:r>
              <a:rPr lang="zh-CN" altLang="en-US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代表前后左右高度</a:t>
            </a:r>
            <a:r>
              <a:rPr lang="en-US" altLang="zh-CN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intensity</a:t>
            </a:r>
            <a:r>
              <a:rPr lang="zh-CN" altLang="en-US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代表激光反射</a:t>
            </a:r>
            <a:r>
              <a:rPr lang="zh-CN" altLang="en-US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</a:t>
            </a:r>
            <a:endParaRPr lang="zh-CN" altLang="en-US" sz="12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86650" y="2571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sensor_msgs/msg/PointCloud2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86650" y="2914650"/>
            <a:ext cx="3943350" cy="933450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58100" y="3028950"/>
            <a:ext cx="3600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P₁=(12.1, 1.8, 0.6), intensity=82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P₂=(12.3, 1.7, 0.7), intensity=76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P₃=(8.2, −2.0, 1.1), intensity=35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48750" y="3867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86650" y="41910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2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86650" y="445770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 PointCloud2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486650" y="4800600"/>
            <a:ext cx="39433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4914900"/>
            <a:ext cx="3600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P₁ → CAR，probability=0.92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P₂ → CAR，probability=0.89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P₃ → PEDESTRIAN，probability=0.81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4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02 · INSTANCE-LEVEL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4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Apollo 把点分成实例，并保留每个目标的点簇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524000"/>
            <a:ext cx="6572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t="3399" b="3399"/>
          <a:stretch>
            <a:fillRect/>
          </a:stretch>
        </p:blipFill>
        <p:spPr>
          <a:xfrm>
            <a:off x="628650" y="1619250"/>
            <a:ext cx="6381750" cy="3238500"/>
          </a:xfrm>
          <a:prstGeom prst="roundRect">
            <a:avLst>
              <a:gd name="adj" fmla="val 2353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533400" y="5562600"/>
            <a:ext cx="6572250" cy="514350"/>
          </a:xfrm>
          <a:prstGeom prst="roundRect">
            <a:avLst>
              <a:gd name="adj" fmla="val 14815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705475"/>
            <a:ext cx="615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它回答“哪些点属于同一目标”，点簇仍可继续投影到图像。</a:t>
            </a:r>
            <a:endParaRPr sz="15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86650" y="146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具体输入输出例子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1809750"/>
            <a:ext cx="3943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假设场景：前方约 12 m 一辆车，右前方约 8 m 一名行人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3050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12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86650" y="2571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sensor_msgs/msg/PointCloud2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86650" y="2914650"/>
            <a:ext cx="3943350" cy="933450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58100" y="3028950"/>
            <a:ext cx="3600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P₁=(12.1, 1.8, 0.6)，P₂=(12.3, 1.7, 0.7)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P₃=(8.2, −2.0, 1.1)，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48750" y="3867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86650" y="41910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2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86650" y="445770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DetectedObjectsWithFeature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486650" y="4800600"/>
            <a:ext cx="39433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4914900"/>
            <a:ext cx="3600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Object #1：CAR，cluster={P₁, P₂, …}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Object #2：PEDESTRIAN，cluster={P₃, …}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5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03 · OBJECT-LEVEL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5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CenterPoint 直接给出可用的 3D 检测目标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524000"/>
            <a:ext cx="6572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148742"/>
            <a:ext cx="6381750" cy="2179517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66750" y="5048250"/>
            <a:ext cx="630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图源：CenterPoint 作者官方仓库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3400" y="5562600"/>
            <a:ext cx="6572250" cy="514350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705475"/>
            <a:ext cx="615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它直接回答目标在哪里、是什么类别，以及 3D 框多大。</a:t>
            </a:r>
            <a:endParaRPr sz="15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86650" y="146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具体输入输出例子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1809750"/>
            <a:ext cx="3943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假设场景：前方约 12 m 一辆车，右前方约 8 m 一名行人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3050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12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86650" y="2571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sensor_msgs/msg/PointCloud2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86650" y="2914650"/>
            <a:ext cx="3943350" cy="933450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58100" y="3028950"/>
            <a:ext cx="3600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整帧场景点云：车辆点、行人点、道路与背景点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 p2 p3</a:t>
            </a:r>
            <a:endParaRPr lang="en-US" altLang="zh-CN"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48750" y="3867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86650" y="41910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2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86650" y="445770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DetectedObjects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486650" y="4800600"/>
            <a:ext cx="39433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4914900"/>
            <a:ext cx="3600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#1 CAR：pos=(12.2, 1.8, 0.0)m，p=0.94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size=(4.5, 1.8, 1.6)m，yaw=3°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#2 PEDESTRIAN：pos=(8.1, −2.0, 0.0)m，p=0.87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slide-6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 TransFusion 当前仍是 LiDAR-only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524000"/>
            <a:ext cx="6572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981943"/>
            <a:ext cx="6381750" cy="2513114"/>
          </a:xfrm>
          <a:prstGeom prst="roundRect">
            <a:avLst>
              <a:gd name="adj" fmla="val 2353"/>
            </a:avLst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66750" y="5048250"/>
            <a:ext cx="630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论文模型图含 Camera 分支｜当前 Autoware 节点接口仍只声明点云输入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33400" y="5562600"/>
            <a:ext cx="6572250" cy="514350"/>
          </a:xfrm>
          <a:prstGeom prst="roundRect">
            <a:avLst>
              <a:gd name="adj" fmla="val 14815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5705475"/>
            <a:ext cx="615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名称中的 Fusion，不等于当前 ROS 2 节点已经订阅相机。</a:t>
            </a:r>
            <a:endParaRPr sz="15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86650" y="146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具体输入输出例子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86650" y="1809750"/>
            <a:ext cx="3943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假设场景：前方约 12 m 一辆车，右前方约 8 m 一名行人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486650" y="2343150"/>
            <a:ext cx="3943350" cy="1428750"/>
          </a:xfrm>
          <a:prstGeom prst="roundRect">
            <a:avLst>
              <a:gd name="adj" fmla="val 5333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77150" y="2495550"/>
            <a:ext cx="35623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· sensor_msgs/msg/PointCloud2</a:t>
            </a:r>
            <a:endParaRPr sz="1350"/>
          </a:p>
          <a:p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同一帧 LiDAR 场景点云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48750" y="3867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86650" y="4267200"/>
            <a:ext cx="39433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77150" y="4400550"/>
            <a:ext cx="35623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· DetectedObjects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#1 CAR：pos=(12.2, 1.8, 0.0)m，p=0.94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size=(4.5, 1.8, 1.6)m，yaw=3°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#2 PEDESTRIAN：pos=(8.1, −2.0, 0.0)m，p=0.87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04 · OBJECT-LEVEL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slide-7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INTERFACE ROUTING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7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输出层级决定模块在架构中的位置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524000"/>
            <a:ext cx="76200" cy="10668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1524000"/>
            <a:ext cx="350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Apollo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857375"/>
            <a:ext cx="3505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输出：实例点簇</a:t>
            </a:r>
            <a:endParaRPr sz="142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124075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字段：类别 · 置信度 · 点簇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362200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roi_cluster_fusion</a:t>
            </a:r>
            <a:endParaRPr sz="13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2809875"/>
            <a:ext cx="76200" cy="10668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809875"/>
            <a:ext cx="350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CenterPoint / TransFusion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3143250"/>
            <a:ext cx="3505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输出：完整 3D 目标</a:t>
            </a:r>
            <a:endParaRPr sz="142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0100" y="3409950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字段：类别 · 置信度 · 位姿 · 尺寸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3648075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roi_detected_object_fusion</a:t>
            </a:r>
            <a:endParaRPr sz="13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4095750"/>
            <a:ext cx="76200" cy="1066800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0100" y="4095750"/>
            <a:ext cx="350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FRNet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4429125"/>
            <a:ext cx="3505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输出：语义点云</a:t>
            </a:r>
            <a:endParaRPr sz="142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0100" y="4695825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字段：x/y/z · class_id · probability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0100" y="4933950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先聚类形成目标</a:t>
            </a:r>
            <a:endParaRPr sz="135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4850" y="5543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629150" y="1485900"/>
            <a:ext cx="7029450" cy="390525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689" y="1581150"/>
            <a:ext cx="4258372" cy="3714750"/>
          </a:xfrm>
          <a:prstGeom prst="roundRect">
            <a:avLst>
              <a:gd name="adj" fmla="val 2051"/>
            </a:avLst>
          </a:prstGeom>
        </p:spPr>
      </p:pic>
      <p:sp>
        <p:nvSpPr>
          <p:cNvPr id="25" name="圆角矩形 24"/>
          <p:cNvSpPr>
            <a:spLocks noGrp="1"/>
          </p:cNvSpPr>
          <p:nvPr/>
        </p:nvSpPr>
        <p:spPr>
          <a:xfrm>
            <a:off x="6934200" y="3962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934200" y="400050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772400" y="3962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772400" y="400050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696200" y="3581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96200" y="361950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296400" y="44767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296400" y="451485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762500" y="5467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762500" y="54959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067300" y="54768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CenterPoint / TransFusion → 3D detector</a:t>
            </a:r>
            <a:endParaRPr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210550" y="5467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210550" y="54959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15350" y="54768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Apollo → LiDAR clustering</a:t>
            </a:r>
            <a:endParaRPr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4762500" y="5753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762500" y="578167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067300" y="576262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FRNet → 语义分割（clustering 前）</a:t>
            </a:r>
            <a:endParaRPr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210550" y="5753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210550" y="578167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515350" y="576262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 fusion → Projection fusion</a:t>
            </a:r>
            <a:endParaRPr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762500" y="6115050"/>
            <a:ext cx="676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图源：Autoware 官方感知参考架构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11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 STATE → NEXT EVIDENCE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11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当前完成了架构理解，下一步补真实验证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6002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22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057400"/>
            <a:ext cx="466725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400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9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24003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感知架构中的融合位置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048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9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57300" y="30480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 LiDAR 包的输出层级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6957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9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57300" y="36957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不同输出对应的融合分支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3434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9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57300" y="43434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 与 label-based 的边界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96050" y="16002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待验证</a:t>
            </a:r>
            <a:endParaRPr sz="22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96050" y="2057400"/>
            <a:ext cx="4972050" cy="47625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534150" y="2400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9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10400" y="2400300"/>
            <a:ext cx="422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组内工程实际启用的包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34150" y="3048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9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010400" y="3048000"/>
            <a:ext cx="422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launch / remapping 与 Topic 类型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34150" y="36957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9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10400" y="3695700"/>
            <a:ext cx="422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相机—LiDAR TF 和时间戳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34150" y="43434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9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10400" y="4343400"/>
            <a:ext cx="422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rosbag 中的真实数据流与输出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33400" y="539115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8200" y="5562600"/>
            <a:ext cx="10515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16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先根据接口识别数据层级，再决定融合方式。</a:t>
            </a:r>
            <a:endParaRPr sz="25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2370</Words>
  <Application>WPS 演示</Application>
  <PresentationFormat>Converted Presentation</PresentationFormat>
  <Paragraphs>289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宋奕杰</cp:lastModifiedBy>
  <cp:revision>2</cp:revision>
  <dcterms:created xsi:type="dcterms:W3CDTF">2026-08-04T07:55:08Z</dcterms:created>
  <dcterms:modified xsi:type="dcterms:W3CDTF">2026-08-04T08:04:44Z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9141972FD24C47F7AD7DBC87571C2054_12</vt:lpwstr>
  </property>
</Properties>
</file>