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e50678afa4285" /><Relationship Type="http://schemas.openxmlformats.org/officeDocument/2006/relationships/extended-properties" Target="/docProps/app.xml" Id="Re57d99f4d0b44f5f" /><Relationship Type="http://schemas.openxmlformats.org/officeDocument/2006/relationships/officeDocument" Target="/ppt/presentation.xml" Id="R299dbcbabfb2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ee48d118143e5"/>
  </p:sldMasterIdLst>
  <p:notesMasterIdLst>
    <p:notesMasterId xmlns:r="http://schemas.openxmlformats.org/officeDocument/2006/relationships" r:id="Rfe22fd1c88494735"/>
  </p:notesMasterIdLst>
  <p:sldIdLst>
    <p:sldId xmlns:r="http://schemas.openxmlformats.org/officeDocument/2006/relationships" id="256" r:id="R6c7fd4f14fed46dc"/>
    <p:sldId xmlns:r="http://schemas.openxmlformats.org/officeDocument/2006/relationships" id="257" r:id="R54bdd27beb28466d"/>
    <p:sldId xmlns:r="http://schemas.openxmlformats.org/officeDocument/2006/relationships" id="258" r:id="R17dacb83953a4158"/>
    <p:sldId xmlns:r="http://schemas.openxmlformats.org/officeDocument/2006/relationships" id="259" r:id="R905416cdb1d646d5"/>
    <p:sldId xmlns:r="http://schemas.openxmlformats.org/officeDocument/2006/relationships" id="260" r:id="R9f382905ec7e4193"/>
    <p:sldId xmlns:r="http://schemas.openxmlformats.org/officeDocument/2006/relationships" id="261" r:id="Rb44af0cf90e84bff"/>
    <p:sldId xmlns:r="http://schemas.openxmlformats.org/officeDocument/2006/relationships" id="262" r:id="R1108abfd62ff4a9e"/>
    <p:sldId xmlns:r="http://schemas.openxmlformats.org/officeDocument/2006/relationships" id="263" r:id="Rde48283eed5d40d6"/>
    <p:sldId xmlns:r="http://schemas.openxmlformats.org/officeDocument/2006/relationships" id="264" r:id="R5f619c9005ee449b"/>
    <p:sldId xmlns:r="http://schemas.openxmlformats.org/officeDocument/2006/relationships" id="265" r:id="R907f8f17ce59475e"/>
    <p:sldId xmlns:r="http://schemas.openxmlformats.org/officeDocument/2006/relationships" id="266" r:id="R8002bea31cc64f3e"/>
    <p:sldId xmlns:r="http://schemas.openxmlformats.org/officeDocument/2006/relationships" id="267" r:id="R584c059af08a48a9"/>
    <p:sldId xmlns:r="http://schemas.openxmlformats.org/officeDocument/2006/relationships" id="268" r:id="R154466b08ef44d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45cc87f48403e" /><Relationship Type="http://schemas.openxmlformats.org/officeDocument/2006/relationships/slideMaster" Target="/ppt/slideMasters/slideMaster1.xml" Id="Ra8eee48d118143e5" /><Relationship Type="http://schemas.openxmlformats.org/officeDocument/2006/relationships/notesMaster" Target="/ppt/notesMasters/notesMaster1.xml" Id="Rfe22fd1c88494735" /><Relationship Type="http://schemas.openxmlformats.org/officeDocument/2006/relationships/presProps" Target="/ppt/presProps.xml" Id="R2bd41eb426844d7d" /><Relationship Type="http://schemas.openxmlformats.org/officeDocument/2006/relationships/tableStyles" Target="/ppt/tableStyles.xml" Id="Ra88fe132d37e47c1" /><Relationship Type="http://schemas.openxmlformats.org/officeDocument/2006/relationships/slide" Target="/ppt/slides/slide1.xml" Id="R6c7fd4f14fed46dc" /><Relationship Type="http://schemas.openxmlformats.org/officeDocument/2006/relationships/slide" Target="/ppt/slides/slide2.xml" Id="R54bdd27beb28466d" /><Relationship Type="http://schemas.openxmlformats.org/officeDocument/2006/relationships/slide" Target="/ppt/slides/slide3.xml" Id="R17dacb83953a4158" /><Relationship Type="http://schemas.openxmlformats.org/officeDocument/2006/relationships/slide" Target="/ppt/slides/slide4.xml" Id="R905416cdb1d646d5" /><Relationship Type="http://schemas.openxmlformats.org/officeDocument/2006/relationships/slide" Target="/ppt/slides/slide5.xml" Id="R9f382905ec7e4193" /><Relationship Type="http://schemas.openxmlformats.org/officeDocument/2006/relationships/slide" Target="/ppt/slides/slide6.xml" Id="Rb44af0cf90e84bff" /><Relationship Type="http://schemas.openxmlformats.org/officeDocument/2006/relationships/slide" Target="/ppt/slides/slide7.xml" Id="R1108abfd62ff4a9e" /><Relationship Type="http://schemas.openxmlformats.org/officeDocument/2006/relationships/slide" Target="/ppt/slides/slide8.xml" Id="Rde48283eed5d40d6" /><Relationship Type="http://schemas.openxmlformats.org/officeDocument/2006/relationships/slide" Target="/ppt/slides/slide9.xml" Id="R5f619c9005ee449b" /><Relationship Type="http://schemas.openxmlformats.org/officeDocument/2006/relationships/slide" Target="/ppt/slides/slide10.xml" Id="R907f8f17ce59475e" /><Relationship Type="http://schemas.openxmlformats.org/officeDocument/2006/relationships/slide" Target="/ppt/slides/slide11.xml" Id="R8002bea31cc64f3e" /><Relationship Type="http://schemas.openxmlformats.org/officeDocument/2006/relationships/slide" Target="/ppt/slides/slide12.xml" Id="R584c059af08a48a9" /><Relationship Type="http://schemas.openxmlformats.org/officeDocument/2006/relationships/slide" Target="/ppt/slides/slide13.xml" Id="R154466b08ef4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1e59a273449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06eb4d9b994011" /><Relationship Type="http://schemas.openxmlformats.org/officeDocument/2006/relationships/notesMaster" Target="/ppt/notesMasters/notesMaster1.xml" Id="R7f2211ea8ebd49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6bcd0f4154204" /><Relationship Type="http://schemas.openxmlformats.org/officeDocument/2006/relationships/notesMaster" Target="/ppt/notesMasters/notesMaster1.xml" Id="R5cec01cf5a39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1d51fae52847b3" /><Relationship Type="http://schemas.openxmlformats.org/officeDocument/2006/relationships/notesMaster" Target="/ppt/notesMasters/notesMaster1.xml" Id="R221f4763ed09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a2bafa391f4ad9" /><Relationship Type="http://schemas.openxmlformats.org/officeDocument/2006/relationships/notesMaster" Target="/ppt/notesMasters/notesMaster1.xml" Id="R65bd248e6db7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07840582e4923" /><Relationship Type="http://schemas.openxmlformats.org/officeDocument/2006/relationships/notesMaster" Target="/ppt/notesMasters/notesMaster1.xml" Id="Refd1371b0871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b93dff8da4048" /><Relationship Type="http://schemas.openxmlformats.org/officeDocument/2006/relationships/notesMaster" Target="/ppt/notesMasters/notesMaster1.xml" Id="R424e780d9d5b43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4babc08b4b4b01" /><Relationship Type="http://schemas.openxmlformats.org/officeDocument/2006/relationships/notesMaster" Target="/ppt/notesMasters/notesMaster1.xml" Id="R9e0270cd0686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88667c7ce94038" /><Relationship Type="http://schemas.openxmlformats.org/officeDocument/2006/relationships/notesMaster" Target="/ppt/notesMasters/notesMaster1.xml" Id="R4f3f78283d144d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033ca87eac4285" /><Relationship Type="http://schemas.openxmlformats.org/officeDocument/2006/relationships/notesMaster" Target="/ppt/notesMasters/notesMaster1.xml" Id="R4a1df054e87c46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a1e084fdfe4871" /><Relationship Type="http://schemas.openxmlformats.org/officeDocument/2006/relationships/notesMaster" Target="/ppt/notesMasters/notesMaster1.xml" Id="Ra52fd868b3864c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22b726b8a94b0b" /><Relationship Type="http://schemas.openxmlformats.org/officeDocument/2006/relationships/notesMaster" Target="/ppt/notesMasters/notesMaster1.xml" Id="R6f783c8c49dd4e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c6faec73e94f4e" /><Relationship Type="http://schemas.openxmlformats.org/officeDocument/2006/relationships/notesMaster" Target="/ppt/notesMasters/notesMaster1.xml" Id="R7cc4fe528e07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01c93d3aa24a11" /><Relationship Type="http://schemas.openxmlformats.org/officeDocument/2006/relationships/notesMaster" Target="/ppt/notesMasters/notesMaster1.xml" Id="Ra06fb7053fae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这里用一个假设场景把数据说具体：输入点 P1、P2 位于前方约十二米，P3 位于右前方约八米。FRNet 输出后，P1、P2 分别被预测为车辆点，P3 被预测为行人点，并带有示例概率。它仍然逐点回答类别，还没有把 P1、P2 组织成同一个车辆目标。页面上的坐标和概率只是讲解消息形式，不是本地运行数据。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https://github.com/autowarefoundation/autoware_universe/tree/main/perception/autoware_lidar_frnet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仍然使用同一个假设场景。Apollo 不再只说每个点是什么，而是把 P1、P2 和附近的车辆点组织成 Object 1，把 P3 和附近的行人点组织成 Object 2。输出是 DetectedObjectsWithFeature，每个对象中仍保留 feature.cluster，所以后续可以把真实点簇投影到图像。这里的点编号和分类只是示例。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https://autowarefoundation.github.io/autoware_universe/main/perception/autoware_lidar_apollo_instance_segmentation/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CenterPoint 直接把整帧点云变成完整三维目标。假设输出中，第一辆车位于前方十二点二米、横向一点八米，三维尺寸约四点五乘一点八乘一点六米；第二个目标是一名行人。这样就能直观看出 DetectedObjects 已经包含类别、置信度、位置、朝向和形状，而不是一组原始点。所有数字仍是讲解示例。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https://autowarefoundation.github.io/autoware_universe/main/perception/autoware_lidar_centerpoint/</a:t>
            </a:r>
          </a:p>
          <a:p xmlns:a="http://schemas.openxmlformats.org/drawingml/2006/main">
            <a:r>
              <a:t>- https://github.com/tianweiy/CenterPoint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这页继续用同一个具体示例说明消息层级。当前 Autoware LiDAR TransFusion 节点接收 LiDAR PointCloud2，也输出包含类别、位置、朝向和三维形状的 DetectedObjects，所以右侧示例和 CenterPoint 使用相同的对象结构。重点不是比较两种算法的示例数值，而是说明它们接口同层级；论文图中的 Camera 分支不能证明当前节点已经订阅相机。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https://autowarefoundation.github.io/autoware_universe/main/perception/autoware_lidar_transfusion/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roi_cluster_fusion 的核心是把三维点簇投影到图像平面，再与相机检测器产生的二维 ROI 计算重叠。投影需要 LiDAR 到相机的 TF 外参和 CameraInfo 内参。匹配成功后，节点用相机 ROI 的类别更新点簇标签。最容易出错的是外参、内参和时间不同步。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label_based_euclidean_cluster 的输入已经是带语义标签的点云。节点先过滤低置信度点，再按 class_id 分桶，每个类别内部独立聚类，最后估计形状并输出 DetectedObjects。当前官方文档要求完整 PointXYZCPE 字段布局；class_id、probability 和 entropy 不能在接口描述中写成可选。这个节点不直接订阅相机。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这两个模块容易混淆，是因为最终都能形成三维目标。区别在于 roi_cluster_fusion 直接使用相机 ROI，把语义加到已经形成的点簇上；label-based cluster 接收的点本身已经带 class_id，只在同类别内部做空间聚类。官方资料没有证明它们必须按箭头串联。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备用页。若老师追问内部流程，可以按 Pre-Process、Fusion Process、Post-Process 三段解释：先筛选候选点簇，再做包含或 IoU 判断，最后过滤未知或噪声点簇并输出。第一遍不需要逐项讲参数。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备用页。不同相机 ROI 和三维消息通常不会同时到达。官方实现根据时间戳和偏移量把匹配消息放进 Collector，收齐所需输入或等待超时后再执行融合并发布。这说明时间匹配是融合节点实现的一部分。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281cb49fe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58b0003c3b4037" /><Relationship Type="http://schemas.openxmlformats.org/officeDocument/2006/relationships/slideLayout" Target="/ppt/slideLayouts/slideLayout1.xml" Id="Rc644d4c935e0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4d4c935e0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32aed0b1f43a5" /><Relationship Type="http://schemas.openxmlformats.org/officeDocument/2006/relationships/notesSlide" Target="/ppt/notesSlides/notesSlide1.xml" Id="Rb58c248afb8e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0f1ca9f2847a9" /><Relationship Type="http://schemas.openxmlformats.org/officeDocument/2006/relationships/notesSlide" Target="/ppt/notesSlides/notesSlide2.xml" Id="R2f2bf8a42c43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5f62bcc644842" /><Relationship Type="http://schemas.openxmlformats.org/officeDocument/2006/relationships/image" Target="/ppt/media/image.png" Id="R273df91725e7467f" /><Relationship Type="http://schemas.openxmlformats.org/officeDocument/2006/relationships/notesSlide" Target="/ppt/notesSlides/notesSlide3.xml" Id="R3560f6258f64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fbfcaa0d44bf4" /><Relationship Type="http://schemas.openxmlformats.org/officeDocument/2006/relationships/image" Target="/ppt/media/image2.png" Id="Rce9baffa10bf4bc0" /><Relationship Type="http://schemas.openxmlformats.org/officeDocument/2006/relationships/notesSlide" Target="/ppt/notesSlides/notesSlide4.xml" Id="R31995aae6cb5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a04554b74479" /><Relationship Type="http://schemas.openxmlformats.org/officeDocument/2006/relationships/image" Target="/ppt/media/image3.png" Id="R273d6eb4a4ec4e78" /><Relationship Type="http://schemas.openxmlformats.org/officeDocument/2006/relationships/notesSlide" Target="/ppt/notesSlides/notesSlide5.xml" Id="Rbe9577ede66c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8274c54984982" /><Relationship Type="http://schemas.openxmlformats.org/officeDocument/2006/relationships/image" Target="/ppt/media/image4.png" Id="R54295a59ad1c4867" /><Relationship Type="http://schemas.openxmlformats.org/officeDocument/2006/relationships/notesSlide" Target="/ppt/notesSlides/notesSlide6.xml" Id="Rf979a0afdfe4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1ef36c824dfa" /><Relationship Type="http://schemas.openxmlformats.org/officeDocument/2006/relationships/image" Target="/ppt/media/image5.png" Id="Rf696420f882742d7" /><Relationship Type="http://schemas.openxmlformats.org/officeDocument/2006/relationships/notesSlide" Target="/ppt/notesSlides/notesSlide7.xml" Id="Rcf073b41540042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1efda88424bae" /><Relationship Type="http://schemas.openxmlformats.org/officeDocument/2006/relationships/image" Target="/ppt/media/image6.png" Id="R98c33c5d57d64b87" /><Relationship Type="http://schemas.openxmlformats.org/officeDocument/2006/relationships/notesSlide" Target="/ppt/notesSlides/notesSlide8.xml" Id="Rb26f9b42b835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a55edc25f4e67" /><Relationship Type="http://schemas.openxmlformats.org/officeDocument/2006/relationships/notesSlide" Target="/ppt/notesSlides/notesSlide9.xml" Id="R62227de0c6ba47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c9389fd0c4112" /><Relationship Type="http://schemas.openxmlformats.org/officeDocument/2006/relationships/notesSlide" Target="/ppt/notesSlides/notesSlide10.xml" Id="R3fc5e269aacf47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fec473f0646c5" /><Relationship Type="http://schemas.openxmlformats.org/officeDocument/2006/relationships/notesSlide" Target="/ppt/notesSlides/notesSlide11.xml" Id="R74e1d5e3b53a4a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9017c5440425d" /><Relationship Type="http://schemas.openxmlformats.org/officeDocument/2006/relationships/image" Target="/ppt/media/image7.png" Id="R23d3d18846ff4bc5" /><Relationship Type="http://schemas.openxmlformats.org/officeDocument/2006/relationships/notesSlide" Target="/ppt/notesSlides/notesSlide12.xml" Id="R4e6308975d3848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1fb2cc4464ca0" /><Relationship Type="http://schemas.openxmlformats.org/officeDocument/2006/relationships/image" Target="/ppt/media/image8.png" Id="R5c678869b4d94881" /><Relationship Type="http://schemas.openxmlformats.org/officeDocument/2006/relationships/notesSlide" Target="/ppt/notesSlides/notesSlide13.xml" Id="R8892519c5af3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4ACDC-A03C-438D-BFC6-2FED64E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AEEB-1DEE-4C65-BE68-D469EA84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9A66DF8-CCA5-4EE3-9AE9-47186D4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Autoware 视觉—LiDAR 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BA9F8-015C-4B39-BBE3-5017689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 LiDAR 输出层级到 ROI 投影匹配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F790D-3501-408C-A342-8DA3021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143250" cy="33718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8289-1A7A-4FDF-92FB-852E836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0C2F5-9BA7-4F4A-AA0D-07BDC295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类别与语义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68E6C-F5A9-4BDB-AD7F-13394C1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74801-1573-4EEE-A2B8-A39BDF5E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5BA60-9553-4697-A401-F7118BD8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04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3D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位置与形状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01331-039A-4F88-BD42-911C2CB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431BD-A997-41CF-846B-CBB6D63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49625-CB15-4A73-9013-FB59D78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确认同一目标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521C6-2BD8-4383-A58F-D597FD7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87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3012F-1777-4D8E-BF39-DB06B9CE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基于官方架构与接口文档梳理｜当前尚未运行 Autoware、rosbag 或融合节点</a:t>
            </a:r>
          </a:p>
        </p:txBody>
      </p:sp>
    </p:spTree>
    <p:extLst>
      <p:ext uri="{BB962C8B-B14F-4D97-AF65-F5344CB8AC3E}">
        <p14:creationId xmlns:p14="http://schemas.microsoft.com/office/powerpoint/2010/main" val="1852219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F92D6E07-8955-4B00-9127-D2C24A5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WHY FUSION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796F086-0F38-4FAF-B6F6-7C23A45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相机给语义，LiDAR 给三维几何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E75FB-0F52-42F5-8A56-B8DD31F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3AA14-FE10-4D64-9978-1C8AAB1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E2727-A650-4BD2-AF6F-930A78F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F54B-DAD7-4080-9448-506F4E8F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两类传感器观察同一世界，但回答的问题不同。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DE1F-6F5E-45C2-B1E7-85CD0389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BEAD2-0654-4AD2-86FD-74CA8CC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95A99-9B74-4AC7-834D-8CA797C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相机：是什么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BFD6E-6CD2-4F9F-A01A-F1987DA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车辆、行人等类别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颜色、标志与纹理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单目深度和尺度不稳定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707CC-3FBF-4750-833B-9133A00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7564A-B97F-4F6F-B4BC-B4D7A2C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68F04-1C7D-4B9D-88FE-C2CBBCF8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E6B8B-A479-4B99-B7AF-F1E62A6B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LiDAR：在哪里、多大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66582-613A-4EB6-A965-CA6B75BE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距离、位置与轮廓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直接形成三维点云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原始点的类别信息较弱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E4433-52EA-4842-95AD-E0EFB0B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47900" cy="26670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BF87B-5DC4-4E86-AB3C-4A5C28B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FE454-4D36-4EB8-BAD7-B644A6C8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是不是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同一个目标？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52BF3-5B4E-4025-859C-B28B03C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25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C9E5F-4981-4193-B2BA-9C33238E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相机补类别，LiDAR 补三维，融合节点确认两边描述的是同一目标。</a:t>
            </a:r>
          </a:p>
        </p:txBody>
      </p:sp>
    </p:spTree>
    <p:extLst>
      <p:ext uri="{BB962C8B-B14F-4D97-AF65-F5344CB8AC3E}">
        <p14:creationId xmlns:p14="http://schemas.microsoft.com/office/powerpoint/2010/main" val="677893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A77866CE-68A5-4865-AA1C-0736000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01 · POINT-LEVEL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8AC11DC-0B3D-448C-BCE6-7BCD8EB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 给每个点补上语义，不直接形成目标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6A60D-9F0A-46FB-82FC-7B2068B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5D249-42EF-48D7-83AA-4209D36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8B10E-78F5-4AC1-9A7D-2682BD2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DB63-3A19-44F9-ADFF-DF379C2F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df91725e7467f"/>
          <a:stretch xmlns:a="http://schemas.openxmlformats.org/drawingml/2006/main"/>
        </p:blipFill>
        <p:spPr>
          <a:xfrm xmlns:a="http://schemas.openxmlformats.org/drawingml/2006/main">
            <a:off x="628650" y="2179625"/>
            <a:ext cx="6381750" cy="211775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38C60-7B79-41CD-B50B-059D95FA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官方模型结构图｜用于解释逐点语义预测，不是本地运行截图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C983E-2F5D-43DC-81B1-8800454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02A1-20BB-4C97-B501-5643FAD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它回答“每个点是什么”，尚未回答“这里有几个目标”。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CC2C9-2B14-40A3-89B1-D2C7835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具体输入输出例子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2E31E-6D61-49D3-9574-8B8EF1B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数值仅用于讲解，不是本地运行结果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5A174-5C20-4320-961E-CC59F3D0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39D52-FE75-4D05-92C9-2989D8E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7BE4D-FEF9-4C6B-9BAA-55AFD7E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E099C-72F9-4C48-8320-9E59D74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3600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P₁=(12.1, 1.8, 0.6), intensity=82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P₂=(12.3, 1.7, 0.7), intensity=76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P₃=(8.2, −2.0, 1.1), intensity=35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96373-0004-41A8-9DE8-EBEB2518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DF8A-FE7A-44AE-A6F1-4B5CEB4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853EF-929E-4D4D-96E1-54140E1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语义 PointCloud2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D3127-6B44-443F-AAB1-6776A0A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943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B56F4-BC9B-49FC-8EF1-9A189CB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P₁ → CAR，probability=0.92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P₂ → CAR，probability=0.89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P₃ → PEDESTRIAN，probability=0.81</a:t>
            </a:r>
          </a:p>
        </p:txBody>
      </p:sp>
    </p:spTree>
    <p:extLst>
      <p:ext uri="{BB962C8B-B14F-4D97-AF65-F5344CB8AC3E}">
        <p14:creationId xmlns:p14="http://schemas.microsoft.com/office/powerpoint/2010/main" val="524864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5E399236-9A44-480D-8DA0-E07B4941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02 · INSTANCE-LEVEL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07D9240-E21B-4E30-861F-9A16D2B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 把点分成实例，并保留每个目标的点簇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16741-45C9-41F4-AF99-98D0357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5736-C6BF-428E-A499-D6C2EF3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22519-1D2A-4566-97FA-AD18339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00416-26EE-4F4E-926D-C507DC3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baffa10bf4bc0"/>
          <a:srcRect xmlns:a="http://schemas.openxmlformats.org/drawingml/2006/main" l="0" t="3399" r="0" b="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19250"/>
            <a:ext cx="63817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73E79-155D-4E8C-B39D-ED69EA9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Apollo Instance Segmentation 官方演示｜非本地实验结果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197D4-1394-42A7-BE23-AC94C3D0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AC56D-9322-4D6D-A3B2-2076FC6A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它回答“哪些点属于同一目标”，点簇仍可继续投影到图像。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C7ECA-9780-4B10-9A8B-925B5F7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具体输入输出例子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A50B9-E4B1-4614-AE7C-AB8954A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数值仅用于讲解，不是本地运行结果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01B00-79F5-4159-8FB1-0B1EAD1C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E6DF9-ADD6-4BE0-BF36-8D31A91E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CF1EC-362A-41E4-8D65-6BAA62D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8EDAA-CF09-437C-91D2-EC1BA3B4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3600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P₁=(12.1, 1.8, 0.6)，P₂=(12.3, 1.7, 0.7)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P₃=(8.2, −2.0, 1.1)，以及更多背景点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2639A-C634-47F7-A05A-2DEBF0B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8DFA8-9058-49E7-9D6B-64E69E04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40A7D-34A5-4757-886C-0F29A9F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DetectedObjectsWithFeature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6FCE3-902C-4597-B3D9-FFE63DB3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943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147CB-8241-4736-A40C-666DF3F7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Object #1：CAR，cluster={P₁, P₂, …}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Object #2：PEDESTRIAN，cluster={P₃, …}</a:t>
            </a:r>
          </a:p>
        </p:txBody>
      </p:sp>
    </p:spTree>
    <p:extLst>
      <p:ext uri="{BB962C8B-B14F-4D97-AF65-F5344CB8AC3E}">
        <p14:creationId xmlns:p14="http://schemas.microsoft.com/office/powerpoint/2010/main" val="674040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2D4A062C-E78C-4FA0-80E1-E85D4344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03 · OBJECT-LEVEL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F6E0DBD-7EF5-465F-B32C-74B8370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 直接给出可用的 3D 检测目标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E772-37B1-4716-B4DB-EA126511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B6D8D-0FF6-45E1-9EAF-554EFCB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4623E-758D-4ADC-A1BC-6CA019A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25B0E-117B-447C-9395-0D216763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d6eb4a4ec4e78"/>
          <a:stretch xmlns:a="http://schemas.openxmlformats.org/drawingml/2006/main"/>
        </p:blipFill>
        <p:spPr>
          <a:xfrm xmlns:a="http://schemas.openxmlformats.org/drawingml/2006/main">
            <a:off x="628650" y="2148742"/>
            <a:ext cx="6381750" cy="2179517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89D6-53D5-4223-917A-5ED44D62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图源：CenterPoint 作者官方仓库｜展示 3D 检测结果，非本地实验结果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DDC93-AD2A-42FD-974E-12A4DA7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2FFE1-ED39-495C-9611-5FD7BE8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它直接回答目标在哪里、是什么类别，以及 3D 框多大。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FA1A1-4B16-404A-BD23-0359D8A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具体输入输出例子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EF6CA-21BF-4B1D-8A07-44D12883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数值仅用于讲解，不是本地运行结果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37C8A-BC1B-4660-89A6-EAD4607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8B27F-1FC7-4EBC-9E5F-D2C37D97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2C41B-57C6-485F-A0A7-98C6DF2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AA423-8926-4BCB-B2C8-F9DCE086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3600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整帧场景点云：车辆点、行人点、道路与背景点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例如 P₁、P₂、P₃ 以及数万个其他点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C12EA-2452-43D9-9B7B-AF17455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A566C-5806-4E8F-9642-5D5060C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CC4C2-948D-4763-A44E-680352AB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23BF6-0893-4399-9BA8-9B173043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943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9DA76-AB52-43EF-A777-BF4CB073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#1 CAR：pos=(12.2, 1.8, 0.0)m，p=0.94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size=(4.5, 1.8, 1.6)m，yaw=3°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#2 PEDESTRIAN：pos=(8.1, −2.0, 0.0)m，p=0.87</a:t>
            </a:r>
          </a:p>
        </p:txBody>
      </p:sp>
    </p:spTree>
    <p:extLst>
      <p:ext uri="{BB962C8B-B14F-4D97-AF65-F5344CB8AC3E}">
        <p14:creationId xmlns:p14="http://schemas.microsoft.com/office/powerpoint/2010/main" val="1178950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D720E48-A806-457C-A15F-AC4654B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 TransFusion 当前仍是 LiDAR-only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9E0AA-D152-44BB-8487-E8BE2E62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43F3C-3FF2-4F6D-92A8-F64C218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6B0E7-CA1C-4F99-8295-C3D658CE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005F1-143D-4726-81E7-5D1BAE6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5a59ad1c4867"/>
          <a:stretch xmlns:a="http://schemas.openxmlformats.org/drawingml/2006/main"/>
        </p:blipFill>
        <p:spPr>
          <a:xfrm xmlns:a="http://schemas.openxmlformats.org/drawingml/2006/main">
            <a:off x="628650" y="1981943"/>
            <a:ext cx="6381750" cy="2513114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0A9D5-DAD4-4670-905D-F2CDCBE2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论文模型图含 Camera 分支｜当前 Autoware 节点接口仍只声明点云输入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0BC88-6AA6-4707-9560-AA6A64FF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C3D7E-E120-4D87-AA44-1339707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名称中的 Fusion，不等于当前 ROS 2 节点已经订阅相机。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271B8-C315-4AC8-8809-F1D1050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具体输入输出例子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C1E5F-078F-41C6-A03F-ED1E31A6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数值仅用于讲解，不是本地运行结果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56F1A-7E93-410C-9B31-B456E330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3943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C6FEE-5130-421A-8B45-4EF1F0D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562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INPUT · sensor_msgs/msg/PointCloud2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同一帧 LiDAR 场景点云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当前节点不把图像作为主输入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A8893-7DCA-4988-A200-2E1CB61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33D19-C44E-4AE6-868D-FFF9BD9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3943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0BEF9-F132-4975-B5F8-E63D958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562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OUTPUT · DetectedObjects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#1 CAR：pos=(12.2, 1.8, 0.0)m，p=0.94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size=(4.5, 1.8, 1.6)m，yaw=3°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#2 PEDESTRIAN：pos=(8.1, −2.0, 0.0)m，p=0.87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17FCB-5ABC-4E6F-9461-3F6FDDB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04 · OBJECT-LEVEL</a:t>
            </a:r>
          </a:p>
        </p:txBody>
      </p:sp>
    </p:spTree>
    <p:extLst>
      <p:ext uri="{BB962C8B-B14F-4D97-AF65-F5344CB8AC3E}">
        <p14:creationId xmlns:p14="http://schemas.microsoft.com/office/powerpoint/2010/main" val="1670298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BED44821-0B4B-4C29-BB18-749265F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INTERFACE ROUTING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D9597A7-ED72-4CFF-96EC-3A52A49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输出层级决定模块在架构中的位置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9130E-0A9C-4EC5-BAE9-AA205E7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4CD63-8BFA-44C8-B31C-E7ECE25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E5B11-9DAC-4353-8CB8-18352448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44002-92F0-4EB1-96F4-99D38F3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9B63B-CE67-4BED-8595-3F9BB05B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109B8-E97F-4631-9DEA-DB5135AD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输出：实例点簇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F4F2E-3710-4185-B762-DC1B0542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字段：类别 · 置信度 · 点簇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074C0-1CD1-42E8-A03B-2540F15D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→  roi_cluster_fusion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A647B-13BA-4D41-AE2E-09D82E56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42BE9-7056-476B-A287-9127D8DF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 / TransFusion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A1A51-38B9-4731-ACAF-2844948C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输出：完整 3D 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7E2BA-05BC-4B35-8DC7-2AB1D6E6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字段：类别 · 置信度 · 位姿 · 尺寸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BC961-A5BF-4A9B-85D9-EC0351E7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→  roi_detected_object_fusion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CE223-6086-4AC7-8655-973F20C2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4C10F-F8C4-4FB1-B41A-681326B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413DE-89C5-475D-80E2-37E85ED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输出：语义点云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C670D-22F5-495C-8B05-AD988DF9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字段：x/y/z · class_id · probability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69C4F-7CFB-4AA7-A74A-60CADBD6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→  先聚类形成目标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149EF-A0CC-4ED9-96B4-407C735A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377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FB14F-FB99-479A-9320-A5A4FF9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右侧是一般架构位置；实际包名、Topic 与 remapping 仍需按组内工程确认。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8CACA-EE4E-4CE4-8335-D06F46D9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7029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6420f882742d7"/>
          <a:stretch xmlns:a="http://schemas.openxmlformats.org/drawingml/2006/main"/>
        </p:blipFill>
        <p:spPr>
          <a:xfrm xmlns:a="http://schemas.openxmlformats.org/drawingml/2006/main">
            <a:off x="6014689" y="1581150"/>
            <a:ext cx="4258372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2ED58-2E15-43C1-9BFF-A0B81930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33BAA-ED24-46FF-AF49-0F1033DD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2E741-C908-44AD-A133-CEF7F7D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63657-EC43-4FDC-9524-BDD52FE4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4821B-4E59-4F5D-874C-017A645D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FC957-F5A6-4C1A-86EA-8860E564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095A8-0609-4C69-8623-002350C1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51719-C84E-4E3A-A3C9-A1F6880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14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E09D2-159C-4E50-ADD7-9B23420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99A82-A6A4-4807-B6E8-25687FDB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A91C29-E9FA-4D57-8A81-58C7040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CenterPoint / TransFusion → 3D detector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02F19C-51EE-435E-8602-7C2B5D9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54E7E9-4BD2-4DB2-BBE2-4845B191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A40B8-0F3D-4877-AF83-1491111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Apollo → LiDAR clustering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FD3F5-A8D7-4BCE-96DB-41E2FBE1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432DB6-4C63-4176-A15A-C01FD9B4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5C04E1-7B69-4577-BD30-CCBDF71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FRNet → 语义分割（clustering 前）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6AB574-E42A-4231-B7E4-67128952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E284F-142B-44C2-9980-7BD6031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D7D5A2-39EB-4879-ADD8-2F2EC08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ROI fusion → Projection fusion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E0FAF5-37E7-4B0E-A12D-CB77BD2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官方感知参考架构；彩色编号为本页接口位置标注</a:t>
            </a:r>
          </a:p>
        </p:txBody>
      </p:sp>
    </p:spTree>
    <p:extLst>
      <p:ext uri="{BB962C8B-B14F-4D97-AF65-F5344CB8AC3E}">
        <p14:creationId xmlns:p14="http://schemas.microsoft.com/office/powerpoint/2010/main" val="244578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eyebrow">
            <a:extLst xmlns:a="http://schemas.openxmlformats.org/drawingml/2006/main">
              <a:ext uri="{FF2B5EF4-FFF2-40B4-BE49-F238E27FC236}">
                <a16:creationId xmlns:a16="http://schemas.microsoft.com/office/drawing/2014/main" id="{C83675C0-C430-49D7-BCAF-51FA898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PROJECTION-BASED FUSION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345BEF4-9F24-430E-8BD2-F943E80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fusion：3D 点簇如何匹配 2D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823B4-5EB4-4E1C-B142-82802AE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D7229-99A7-4059-975C-C84581D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E00E0-AD2A-431B-BBA1-08B2E52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46F3-61AF-4B77-9C59-19337A1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1912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33c5d57d64b87"/>
          <a:stretch xmlns:a="http://schemas.openxmlformats.org/drawingml/2006/main"/>
        </p:blipFill>
        <p:spPr>
          <a:xfrm xmlns:a="http://schemas.openxmlformats.org/drawingml/2006/main">
            <a:off x="916330" y="1619250"/>
            <a:ext cx="5425391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E18F3-DFEA-4EE8-B442-55DCABFA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官方文档；虚线框是点簇投影，红框是相机检测 ROI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64EEE-994D-4A0E-B59C-09F0C1B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872F8-2E45-4CCE-9F3F-D7DFB3F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85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A7044-57F6-49C1-8F9C-850B120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E0CB7-27AE-4C5D-ACB0-C96C9A3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+ CameraInfo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ED333-9210-4DDF-A21F-444D9597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56ED6-9BE2-44E9-A65C-C90F0EBF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A2EB1-8E7A-4B8D-B88C-7E6928AD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几何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6EC01-02E5-4F68-BDD2-2A6A5563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TF 外参转换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相机内参投影到像素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C9E21-7247-48B3-93A0-C66CF17E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F4994-70CA-4D06-9FF8-8D8E9FD3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90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18915-FC98-464C-9A3F-0527123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05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8BAE8-8BA9-4B31-9ADF-10AEE9A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比较投影框与检测框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计算 IoU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F75BF-63FE-4303-8892-E07575B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B5F39-B4EF-45FA-92E4-5E6B703B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43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06F94-F5EE-4D51-A3B4-2602589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8CE0A-1591-4A35-952D-9F8E795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用相机类别更新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73484-7F79-48AE-B449-ECD07C8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24500"/>
            <a:ext cx="4038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CC640-FE33-417D-ABAF-D7D49D87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易错点：外参/TF 偏差｜CameraInfo 错误｜图像与点云时间不同步</a:t>
            </a:r>
          </a:p>
        </p:txBody>
      </p:sp>
    </p:spTree>
    <p:extLst>
      <p:ext uri="{BB962C8B-B14F-4D97-AF65-F5344CB8AC3E}">
        <p14:creationId xmlns:p14="http://schemas.microsoft.com/office/powerpoint/2010/main" val="1278724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9-eyebrow">
            <a:extLst xmlns:a="http://schemas.openxmlformats.org/drawingml/2006/main">
              <a:ext uri="{FF2B5EF4-FFF2-40B4-BE49-F238E27FC236}">
                <a16:creationId xmlns:a16="http://schemas.microsoft.com/office/drawing/2014/main" id="{C05F7E98-FED5-471A-A9A2-1D9F846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SEMANTIC POINT CLOUD CLUSTERING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6D411F6-291B-45B3-9C5E-FDBFCEE0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聚类不直接使用相机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40819-CB09-4D66-9278-DC3240F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3A72-93C6-439D-86A9-1D210E9E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9725-7934-43FD-A211-5CF44BD2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0592C-42B9-45D5-A825-D8E49F4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节点只订阅一份 PointCloud2；图像、CameraInfo 和 2D ROI 都不是它的直接输入。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263D6-3287-4F01-9F3D-4B7F0498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4B5CD-09FC-42AA-9791-8629568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B179E-66FF-47F6-8FB5-3F05D72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输入点云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54F4D-6AFA-4178-BF26-C02BDC8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PointXYZCPE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语义点云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97131-B47E-4EAD-BC31-07974D5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3CE2C-8D1F-43F6-89E8-A063E3A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F9A2F-BD98-4281-94A4-41C8B8D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9FB9-278B-44A5-A854-37EE9E4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置信度过滤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9CCA0-3BAC-4DD4-9A80-F2C4912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min_probability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的点被过滤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5643E-F23F-4653-AFFB-79A5A2C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63743-57E1-47A0-AAD8-3C53275D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514CF-D9F8-43C3-985E-5CF3923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B0EE0-25A7-4AA1-B559-059848BD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按标签分桶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9B5DD-2354-4AAE-948F-81C3F704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 class_id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进入不同类别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54226-0906-44AB-8403-27B88104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154D7-D62A-426F-B6B5-C07B5AA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15BE4-1C26-448C-804B-A817560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0E03B-9C76-40F6-B588-03331983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每类独立聚类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553E0-7DBC-4003-B91B-2B45801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按空间距离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形成点簇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B8C06-14AD-45E4-A0A3-E31F7FD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0CE08-0E40-4FB7-8E84-8D5EA0F5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0A08E-F4D8-44D9-B4BC-0AC5248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8C9EC2-2C62-42F3-8A61-90C048C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形状与输出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71053-253A-4EB5-8D59-05F748CB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ShapeEstimator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位置 / 姿态 / 形状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→ DetectedObjects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985B8-FFAB-4FC0-97DF-E07757D6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D1676-CEAD-4697-B2D9-7670233D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完整输入布局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BD8E1E-DADA-4DC5-933F-D9C4D095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x   y   z   class_id   probability   entropy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91823-E6BC-43C6-BA94-867174CE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62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其他布局会被拒绝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BA27CC-6EE8-43C0-BA67-A7CC0B56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18ADB-BC7E-4387-8D7E-FFA2B4D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边界：它做空间聚类，不做跨帧跟踪；上游语义错误会直接影响输出。</a:t>
            </a:r>
          </a:p>
        </p:txBody>
      </p:sp>
    </p:spTree>
    <p:extLst>
      <p:ext uri="{BB962C8B-B14F-4D97-AF65-F5344CB8AC3E}">
        <p14:creationId xmlns:p14="http://schemas.microsoft.com/office/powerpoint/2010/main" val="407882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10-eyebrow">
            <a:extLst xmlns:a="http://schemas.openxmlformats.org/drawingml/2006/main">
              <a:ext uri="{FF2B5EF4-FFF2-40B4-BE49-F238E27FC236}">
                <a16:creationId xmlns:a16="http://schemas.microsoft.com/office/drawing/2014/main" id="{27513227-D36D-47DA-A8B9-00D75C98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DO NOT CONFLATE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02CBAEF-0E60-4934-A6EA-062F7EF3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两个模块相关，但不是同一个节点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9E05F-DF2C-4D3F-9F87-61DF416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89CF4-F3AA-4990-A6DE-4383E87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BD700-BBF4-4757-9877-CB90E9FB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3140C-DE17-458B-90E8-77004CA4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它们都能把点云变成可用于检测的 3D 结果，但语义加入的位置不同。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A00AB-C22B-4C23-93BD-5DF029CC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154FA-D8DB-4860-B8F7-18C2517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0897C-1282-4B63-A3BB-91C9C56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6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B256C-EF2C-45FE-8552-0636D6AF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ACF7A-D10F-459A-B2E7-A7BA1AE8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81FAB-EA84-46C5-8100-2AFA2BF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 + CameraInfo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602FD-CBB0-49BF-B7B9-65DFD942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762AC-44D7-412D-ACFE-12D07B3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 class_id 的 PointXYZCPE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6759F-0E88-43ED-83AE-70FDE7EE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7F514-5B1B-49EC-A3C4-E98F86E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0F78B-A97E-4912-B38A-051032E6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08B5A-BEDF-441B-815A-4061927C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 2D 检测器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8C8A0-6A2E-472D-922E-8A764AC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9F870-7B7B-41CD-9A90-1876F4A4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上游语义点云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5EE4C-9796-4572-ADF1-B17FC2ED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F1730-E6BF-4DA9-8890-FBBB335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F22E4-A8A0-40EF-B224-8EDAC06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C3CD0-9F6D-4BEE-A336-6FE3D925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C295C-FDFE-496A-BCCB-A15F631E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3A3A2-BE32-4125-8BFE-D8750BA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7E107-796F-4555-8EE9-CC34CF69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788FC-1FD1-46C4-98FD-5279715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B2438-EC6A-4EFE-BE02-E16E12C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3D98B-BB4A-4566-A4A1-CD301D2D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3D→2D 投影 + IoU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DE085A-65F0-44E3-B1C3-9CA6AE7E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CDE79-19E9-43BF-B859-B5F5579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同类别内部空间聚类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2E11DE-C0C0-4CB0-AB3F-31CCC7A8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33E9A-5862-417F-BA63-706A213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9B710-836B-4811-8433-1C183004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BCBE5C-311B-40A2-90CB-C96EC76B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带类别的 3D cluster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D09F7E-430A-4180-A0C2-B77A5607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306C5-22B4-4104-9025-A95517D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743608-9736-446A-A714-9CF3357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AE298-FCF4-424E-B0EF-4BC2F8B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AA6D34-3467-457D-BB42-4D29167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FBA646-7F14-418A-B5EA-4D527056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不能未经验证画成：roi_cluster_fusion → label_based_euclidean_cluster（官方资料没有证明这是默认流水线）</a:t>
            </a:r>
          </a:p>
        </p:txBody>
      </p:sp>
    </p:spTree>
    <p:extLst>
      <p:ext uri="{BB962C8B-B14F-4D97-AF65-F5344CB8AC3E}">
        <p14:creationId xmlns:p14="http://schemas.microsoft.com/office/powerpoint/2010/main" val="20140788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11-eyebrow">
            <a:extLst xmlns:a="http://schemas.openxmlformats.org/drawingml/2006/main">
              <a:ext uri="{FF2B5EF4-FFF2-40B4-BE49-F238E27FC236}">
                <a16:creationId xmlns:a16="http://schemas.microsoft.com/office/drawing/2014/main" id="{92B4ADE2-5F35-4C45-8DE8-0E35EF9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CURRENT STATE → NEXT EVIDENCE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4F32A963-D3E0-4FAC-896B-BCF80FA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当前完成了架构理解，下一步补真实验证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5ADA0-C44B-452A-A8C7-891A8E2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95794-3BD4-447C-B766-7E7470F2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597A-2E7D-4315-A3A2-F648F33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F40A-1714-4937-92AB-48A91C6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E6379-6366-42B3-A629-75FD7A62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D6367-A417-48FC-AD07-2CCEA36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1392D-0CF2-4965-8DC3-0E2C8301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感知架构中的融合位置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5629C-FEF8-41B6-AA4B-AF66830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F616A-3E05-4293-974B-69F06FD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四个 LiDAR 包的输出层级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55606-BB4B-408E-87B6-C9C853D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47DC4-DCB4-4F31-979A-5FA7399B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不同输出对应的融合分支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15DF7-C3D0-47C7-AD1B-356FDC5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69934-8FEF-465F-9EEE-70C0557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与 label-based 的边界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1E3A0-CEBB-45D3-9A22-F37FEF83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28D26-D3E0-4E9E-828B-F72408D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97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3005C-04CA-4C97-A6AD-A3BDFE4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222CE-8EE2-4DE2-8B71-97A3EBF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组内工程实际启用的包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F0A09-6576-418D-A4EF-2E1DE28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701F0-88DA-451D-91A4-5139997B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launch / remapping 与 Topic 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2E0D4-A82F-4AFC-8A23-2AD4620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84DBA-C70D-4E9E-BF78-ED19C916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相机—LiDAR TF 和时间戳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EEC8B-184F-49B0-9994-B2152FD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054E0-CBCC-475F-A271-479A13BE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rosbag 中的真实数据流与输出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AC850-CC62-44DB-923F-4A102116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60463-E96A-4361-A576-C16A3815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先根据接口识别数据层级，再决定融合方式。</a:t>
            </a:r>
          </a:p>
        </p:txBody>
      </p:sp>
    </p:spTree>
    <p:extLst>
      <p:ext uri="{BB962C8B-B14F-4D97-AF65-F5344CB8AC3E}">
        <p14:creationId xmlns:p14="http://schemas.microsoft.com/office/powerpoint/2010/main" val="404903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2-eyebrow">
            <a:extLst xmlns:a="http://schemas.openxmlformats.org/drawingml/2006/main">
              <a:ext uri="{FF2B5EF4-FFF2-40B4-BE49-F238E27FC236}">
                <a16:creationId xmlns:a16="http://schemas.microsoft.com/office/drawing/2014/main" id="{ACC768B4-4A8D-4046-B923-E84DAD8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ALGORITHM DETAIL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C9F6ECA-F8D1-446B-9083-47700FB6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备用｜ROI cluster fusion 官方内部流程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1DA19-F506-4D3B-B1EA-BF74194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07481-EEE3-49D2-B28F-D2119A8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515AF-AC07-455A-89B7-6129D75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33215-DA4C-4170-8122-176DEB01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3d18846ff4bc5"/>
          <a:stretch xmlns:a="http://schemas.openxmlformats.org/drawingml/2006/main"/>
        </p:blipFill>
        <p:spPr>
          <a:xfrm xmlns:a="http://schemas.openxmlformats.org/drawingml/2006/main">
            <a:off x="2200990" y="1390650"/>
            <a:ext cx="779002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DD48F-F458-447E-A010-C8D8F61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官方文档；正常汇报不展开参数分支，仅在追问时使用</a:t>
            </a:r>
          </a:p>
        </p:txBody>
      </p:sp>
    </p:spTree>
    <p:extLst>
      <p:ext uri="{BB962C8B-B14F-4D97-AF65-F5344CB8AC3E}">
        <p14:creationId xmlns:p14="http://schemas.microsoft.com/office/powerpoint/2010/main" val="7459152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3-eyebrow">
            <a:extLst xmlns:a="http://schemas.openxmlformats.org/drawingml/2006/main">
              <a:ext uri="{FF2B5EF4-FFF2-40B4-BE49-F238E27FC236}">
                <a16:creationId xmlns:a16="http://schemas.microsoft.com/office/drawing/2014/main" id="{E2064D38-860D-4AB7-B878-9419B59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TEMPORAL ALIGNMENT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E44569B7-DD74-434E-8943-55484EA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备用｜多路消息如何按时间收集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4E2F7-85F4-4375-ADCF-32CC792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9EE49-ACF1-4E24-8FE5-E55B1EB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77B60-C139-4E3C-8289-9B695D52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B038C-6215-4BA3-994F-48B12CE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52475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8869b4d94881"/>
          <a:stretch xmlns:a="http://schemas.openxmlformats.org/drawingml/2006/main"/>
        </p:blipFill>
        <p:spPr>
          <a:xfrm xmlns:a="http://schemas.openxmlformats.org/drawingml/2006/main">
            <a:off x="759343" y="1524000"/>
            <a:ext cx="7072864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7D780-0797-4B9F-A9A7-AAB4BD36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Image Projection Based Fusion 官方文档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81BC7-AA14-4BF3-9DEE-2D7D022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Collector 的作用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2C3C8-D8F9-4F8F-AF66-8C942423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10198-AD41-4429-991F-03187A6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以参考时间戳创建收集器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A2CB9-C401-4ECE-BED7-5856EE22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比较各路 ROI 与 3D 消息的时间差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3137D-0035-43BB-B907-1195457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输入收齐或等待超时后再融合发布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476CA-F331-49BD-9569-D5CCE3F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89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8F51B-D7F4-4442-B62B-877EC856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时间匹配不是附加步骤，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而是融合实现的一部分。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031899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2026-08-04T07:48:37.6440000Z</dcterms:created>
  <dcterms:modified xsi:type="dcterms:W3CDTF">2026-08-04T07:48:37.6440000Z</dcterms:modified>
</coreProperties>
</file>